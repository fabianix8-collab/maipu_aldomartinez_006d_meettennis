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72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7C79C0F-8AB8-4D40-B651-5C33A6DC4EF2}" v="1" dt="2026-09-01T02:44:25.8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8" d="100"/>
          <a:sy n="108" d="100"/>
        </p:scale>
        <p:origin x="78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elipe Sandoval" userId="da2cd21e4c60ce66" providerId="LiveId" clId="{BBD4A2B8-75E4-430D-B085-7ACD9BF9C15D}"/>
    <pc:docChg chg="undo custSel modSld">
      <pc:chgData name="Felipe Sandoval" userId="da2cd21e4c60ce66" providerId="LiveId" clId="{BBD4A2B8-75E4-430D-B085-7ACD9BF9C15D}" dt="2026-09-01T03:00:58.785" v="115" actId="20577"/>
      <pc:docMkLst>
        <pc:docMk/>
      </pc:docMkLst>
      <pc:sldChg chg="addSp delSp modSp mod">
        <pc:chgData name="Felipe Sandoval" userId="da2cd21e4c60ce66" providerId="LiveId" clId="{BBD4A2B8-75E4-430D-B085-7ACD9BF9C15D}" dt="2026-09-01T01:55:01.507" v="67" actId="14100"/>
        <pc:sldMkLst>
          <pc:docMk/>
          <pc:sldMk cId="0" sldId="256"/>
        </pc:sldMkLst>
        <pc:picChg chg="add del">
          <ac:chgData name="Felipe Sandoval" userId="da2cd21e4c60ce66" providerId="LiveId" clId="{BBD4A2B8-75E4-430D-B085-7ACD9BF9C15D}" dt="2026-08-31T23:35:52.736" v="51" actId="478"/>
          <ac:picMkLst>
            <pc:docMk/>
            <pc:sldMk cId="0" sldId="256"/>
            <ac:picMk id="13" creationId="{BBE7084F-5636-4FB3-C06F-CA09482769EF}"/>
          </ac:picMkLst>
        </pc:picChg>
        <pc:picChg chg="add del mod">
          <ac:chgData name="Felipe Sandoval" userId="da2cd21e4c60ce66" providerId="LiveId" clId="{BBD4A2B8-75E4-430D-B085-7ACD9BF9C15D}" dt="2026-09-01T01:54:52.575" v="61" actId="478"/>
          <ac:picMkLst>
            <pc:docMk/>
            <pc:sldMk cId="0" sldId="256"/>
            <ac:picMk id="15" creationId="{027E6505-4B02-75DD-2435-A2BC69F3DDA8}"/>
          </ac:picMkLst>
        </pc:picChg>
        <pc:picChg chg="add del mod">
          <ac:chgData name="Felipe Sandoval" userId="da2cd21e4c60ce66" providerId="LiveId" clId="{BBD4A2B8-75E4-430D-B085-7ACD9BF9C15D}" dt="2026-09-01T01:50:51.109" v="55" actId="478"/>
          <ac:picMkLst>
            <pc:docMk/>
            <pc:sldMk cId="0" sldId="256"/>
            <ac:picMk id="17" creationId="{B7EE1999-8B7A-6162-FF75-9FB210201FA8}"/>
          </ac:picMkLst>
        </pc:picChg>
        <pc:picChg chg="add mod modCrop">
          <ac:chgData name="Felipe Sandoval" userId="da2cd21e4c60ce66" providerId="LiveId" clId="{BBD4A2B8-75E4-430D-B085-7ACD9BF9C15D}" dt="2026-09-01T01:55:01.507" v="67" actId="14100"/>
          <ac:picMkLst>
            <pc:docMk/>
            <pc:sldMk cId="0" sldId="256"/>
            <ac:picMk id="19" creationId="{403EEC77-D045-0FA1-2B55-7D1F690EB59C}"/>
          </ac:picMkLst>
        </pc:picChg>
      </pc:sldChg>
      <pc:sldChg chg="addSp modSp mod">
        <pc:chgData name="Felipe Sandoval" userId="da2cd21e4c60ce66" providerId="LiveId" clId="{BBD4A2B8-75E4-430D-B085-7ACD9BF9C15D}" dt="2026-09-01T02:59:55.749" v="95" actId="20577"/>
        <pc:sldMkLst>
          <pc:docMk/>
          <pc:sldMk cId="0" sldId="257"/>
        </pc:sldMkLst>
        <pc:spChg chg="mod">
          <ac:chgData name="Felipe Sandoval" userId="da2cd21e4c60ce66" providerId="LiveId" clId="{BBD4A2B8-75E4-430D-B085-7ACD9BF9C15D}" dt="2026-09-01T02:59:55.749" v="95" actId="20577"/>
          <ac:spMkLst>
            <pc:docMk/>
            <pc:sldMk cId="0" sldId="257"/>
            <ac:spMk id="9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14.263" v="35" actId="22"/>
          <ac:picMkLst>
            <pc:docMk/>
            <pc:sldMk cId="0" sldId="257"/>
            <ac:picMk id="68" creationId="{E13B0FB3-2FF8-E036-5D00-A56BBCE03683}"/>
          </ac:picMkLst>
        </pc:picChg>
      </pc:sldChg>
      <pc:sldChg chg="addSp modSp mod">
        <pc:chgData name="Felipe Sandoval" userId="da2cd21e4c60ce66" providerId="LiveId" clId="{BBD4A2B8-75E4-430D-B085-7ACD9BF9C15D}" dt="2026-09-01T02:59:25.548" v="89" actId="20577"/>
        <pc:sldMkLst>
          <pc:docMk/>
          <pc:sldMk cId="0" sldId="258"/>
        </pc:sldMkLst>
        <pc:spChg chg="mod">
          <ac:chgData name="Felipe Sandoval" userId="da2cd21e4c60ce66" providerId="LiveId" clId="{BBD4A2B8-75E4-430D-B085-7ACD9BF9C15D}" dt="2026-09-01T02:59:25.548" v="89" actId="20577"/>
          <ac:spMkLst>
            <pc:docMk/>
            <pc:sldMk cId="0" sldId="258"/>
            <ac:spMk id="8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33:24.953" v="68" actId="27107"/>
          <ac:spMkLst>
            <pc:docMk/>
            <pc:sldMk cId="0" sldId="258"/>
            <ac:spMk id="10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12.802" v="34" actId="22"/>
          <ac:picMkLst>
            <pc:docMk/>
            <pc:sldMk cId="0" sldId="258"/>
            <ac:picMk id="28" creationId="{FC740255-EF77-BF02-5AB6-A42A1698F465}"/>
          </ac:picMkLst>
        </pc:picChg>
      </pc:sldChg>
      <pc:sldChg chg="addSp modSp mod">
        <pc:chgData name="Felipe Sandoval" userId="da2cd21e4c60ce66" providerId="LiveId" clId="{BBD4A2B8-75E4-430D-B085-7ACD9BF9C15D}" dt="2026-09-01T02:59:30.144" v="91" actId="20577"/>
        <pc:sldMkLst>
          <pc:docMk/>
          <pc:sldMk cId="0" sldId="259"/>
        </pc:sldMkLst>
        <pc:spChg chg="mod">
          <ac:chgData name="Felipe Sandoval" userId="da2cd21e4c60ce66" providerId="LiveId" clId="{BBD4A2B8-75E4-430D-B085-7ACD9BF9C15D}" dt="2026-09-01T02:59:30.144" v="91" actId="20577"/>
          <ac:spMkLst>
            <pc:docMk/>
            <pc:sldMk cId="0" sldId="259"/>
            <ac:spMk id="8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10.541" v="33" actId="22"/>
          <ac:picMkLst>
            <pc:docMk/>
            <pc:sldMk cId="0" sldId="259"/>
            <ac:picMk id="29" creationId="{386D2326-A8A7-13BC-6CF7-C8F7AFE8755A}"/>
          </ac:picMkLst>
        </pc:picChg>
      </pc:sldChg>
      <pc:sldChg chg="addSp modSp mod">
        <pc:chgData name="Felipe Sandoval" userId="da2cd21e4c60ce66" providerId="LiveId" clId="{BBD4A2B8-75E4-430D-B085-7ACD9BF9C15D}" dt="2026-09-01T02:59:39.727" v="93" actId="20577"/>
        <pc:sldMkLst>
          <pc:docMk/>
          <pc:sldMk cId="0" sldId="260"/>
        </pc:sldMkLst>
        <pc:spChg chg="mod">
          <ac:chgData name="Felipe Sandoval" userId="da2cd21e4c60ce66" providerId="LiveId" clId="{BBD4A2B8-75E4-430D-B085-7ACD9BF9C15D}" dt="2026-09-01T02:59:39.727" v="93" actId="20577"/>
          <ac:spMkLst>
            <pc:docMk/>
            <pc:sldMk cId="0" sldId="260"/>
            <ac:spMk id="8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09.064" v="32" actId="22"/>
          <ac:picMkLst>
            <pc:docMk/>
            <pc:sldMk cId="0" sldId="260"/>
            <ac:picMk id="27" creationId="{8A68E2BF-5863-F5F3-35B0-5B43B566C5BF}"/>
          </ac:picMkLst>
        </pc:picChg>
      </pc:sldChg>
      <pc:sldChg chg="addSp modSp mod">
        <pc:chgData name="Felipe Sandoval" userId="da2cd21e4c60ce66" providerId="LiveId" clId="{BBD4A2B8-75E4-430D-B085-7ACD9BF9C15D}" dt="2026-09-01T03:00:09.699" v="99" actId="20577"/>
        <pc:sldMkLst>
          <pc:docMk/>
          <pc:sldMk cId="0" sldId="262"/>
        </pc:sldMkLst>
        <pc:spChg chg="mod">
          <ac:chgData name="Felipe Sandoval" userId="da2cd21e4c60ce66" providerId="LiveId" clId="{BBD4A2B8-75E4-430D-B085-7ACD9BF9C15D}" dt="2026-09-01T03:00:09.699" v="99" actId="20577"/>
          <ac:spMkLst>
            <pc:docMk/>
            <pc:sldMk cId="0" sldId="262"/>
            <ac:spMk id="9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18.745" v="37" actId="22"/>
          <ac:picMkLst>
            <pc:docMk/>
            <pc:sldMk cId="0" sldId="262"/>
            <ac:picMk id="33" creationId="{6C8F6E85-53A7-2925-9C09-9DF56EB0C2B1}"/>
          </ac:picMkLst>
        </pc:picChg>
      </pc:sldChg>
      <pc:sldChg chg="addSp modSp mod">
        <pc:chgData name="Felipe Sandoval" userId="da2cd21e4c60ce66" providerId="LiveId" clId="{BBD4A2B8-75E4-430D-B085-7ACD9BF9C15D}" dt="2026-09-01T03:00:13.806" v="101" actId="20577"/>
        <pc:sldMkLst>
          <pc:docMk/>
          <pc:sldMk cId="0" sldId="263"/>
        </pc:sldMkLst>
        <pc:spChg chg="mod">
          <ac:chgData name="Felipe Sandoval" userId="da2cd21e4c60ce66" providerId="LiveId" clId="{BBD4A2B8-75E4-430D-B085-7ACD9BF9C15D}" dt="2026-09-01T03:00:13.806" v="101" actId="20577"/>
          <ac:spMkLst>
            <pc:docMk/>
            <pc:sldMk cId="0" sldId="263"/>
            <ac:spMk id="8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37:59.684" v="69" actId="1076"/>
          <ac:spMkLst>
            <pc:docMk/>
            <pc:sldMk cId="0" sldId="263"/>
            <ac:spMk id="12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38:01.636" v="70" actId="1076"/>
          <ac:spMkLst>
            <pc:docMk/>
            <pc:sldMk cId="0" sldId="263"/>
            <ac:spMk id="13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0.309" v="38" actId="22"/>
          <ac:picMkLst>
            <pc:docMk/>
            <pc:sldMk cId="0" sldId="263"/>
            <ac:picMk id="33" creationId="{EFD1E8E1-39FE-9310-C2C8-7CDAD08BF99C}"/>
          </ac:picMkLst>
        </pc:picChg>
      </pc:sldChg>
      <pc:sldChg chg="addSp modSp mod">
        <pc:chgData name="Felipe Sandoval" userId="da2cd21e4c60ce66" providerId="LiveId" clId="{BBD4A2B8-75E4-430D-B085-7ACD9BF9C15D}" dt="2026-09-01T03:00:29.634" v="103" actId="20577"/>
        <pc:sldMkLst>
          <pc:docMk/>
          <pc:sldMk cId="0" sldId="264"/>
        </pc:sldMkLst>
        <pc:spChg chg="mod">
          <ac:chgData name="Felipe Sandoval" userId="da2cd21e4c60ce66" providerId="LiveId" clId="{BBD4A2B8-75E4-430D-B085-7ACD9BF9C15D}" dt="2026-09-01T03:00:29.634" v="103" actId="20577"/>
          <ac:spMkLst>
            <pc:docMk/>
            <pc:sldMk cId="0" sldId="264"/>
            <ac:spMk id="8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2.437" v="39" actId="22"/>
          <ac:picMkLst>
            <pc:docMk/>
            <pc:sldMk cId="0" sldId="264"/>
            <ac:picMk id="32" creationId="{967D7525-D77A-D712-4B08-D07F01F9C8A8}"/>
          </ac:picMkLst>
        </pc:picChg>
      </pc:sldChg>
      <pc:sldChg chg="addSp modSp mod">
        <pc:chgData name="Felipe Sandoval" userId="da2cd21e4c60ce66" providerId="LiveId" clId="{BBD4A2B8-75E4-430D-B085-7ACD9BF9C15D}" dt="2026-09-01T03:00:33.650" v="105" actId="20577"/>
        <pc:sldMkLst>
          <pc:docMk/>
          <pc:sldMk cId="0" sldId="265"/>
        </pc:sldMkLst>
        <pc:spChg chg="mod">
          <ac:chgData name="Felipe Sandoval" userId="da2cd21e4c60ce66" providerId="LiveId" clId="{BBD4A2B8-75E4-430D-B085-7ACD9BF9C15D}" dt="2026-09-01T03:00:33.650" v="105" actId="20577"/>
          <ac:spMkLst>
            <pc:docMk/>
            <pc:sldMk cId="0" sldId="265"/>
            <ac:spMk id="8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4.292" v="40" actId="22"/>
          <ac:picMkLst>
            <pc:docMk/>
            <pc:sldMk cId="0" sldId="265"/>
            <ac:picMk id="33" creationId="{C42D7C74-D530-D44F-E37E-F73D9AEF488A}"/>
          </ac:picMkLst>
        </pc:picChg>
      </pc:sldChg>
      <pc:sldChg chg="addSp modSp mod">
        <pc:chgData name="Felipe Sandoval" userId="da2cd21e4c60ce66" providerId="LiveId" clId="{BBD4A2B8-75E4-430D-B085-7ACD9BF9C15D}" dt="2026-09-01T03:00:36.908" v="107" actId="20577"/>
        <pc:sldMkLst>
          <pc:docMk/>
          <pc:sldMk cId="0" sldId="266"/>
        </pc:sldMkLst>
        <pc:spChg chg="mod">
          <ac:chgData name="Felipe Sandoval" userId="da2cd21e4c60ce66" providerId="LiveId" clId="{BBD4A2B8-75E4-430D-B085-7ACD9BF9C15D}" dt="2026-09-01T03:00:36.908" v="107" actId="20577"/>
          <ac:spMkLst>
            <pc:docMk/>
            <pc:sldMk cId="0" sldId="266"/>
            <ac:spMk id="8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5.910" v="41" actId="22"/>
          <ac:picMkLst>
            <pc:docMk/>
            <pc:sldMk cId="0" sldId="266"/>
            <ac:picMk id="31" creationId="{1B332DAB-C0C9-3735-6352-AB9769FC0A83}"/>
          </ac:picMkLst>
        </pc:picChg>
      </pc:sldChg>
      <pc:sldChg chg="addSp modSp mod">
        <pc:chgData name="Felipe Sandoval" userId="da2cd21e4c60ce66" providerId="LiveId" clId="{BBD4A2B8-75E4-430D-B085-7ACD9BF9C15D}" dt="2026-09-01T03:00:40.422" v="109" actId="20577"/>
        <pc:sldMkLst>
          <pc:docMk/>
          <pc:sldMk cId="0" sldId="267"/>
        </pc:sldMkLst>
        <pc:spChg chg="mod">
          <ac:chgData name="Felipe Sandoval" userId="da2cd21e4c60ce66" providerId="LiveId" clId="{BBD4A2B8-75E4-430D-B085-7ACD9BF9C15D}" dt="2026-09-01T03:00:40.422" v="109" actId="20577"/>
          <ac:spMkLst>
            <pc:docMk/>
            <pc:sldMk cId="0" sldId="267"/>
            <ac:spMk id="8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44:22.038" v="86" actId="20577"/>
          <ac:spMkLst>
            <pc:docMk/>
            <pc:sldMk cId="0" sldId="267"/>
            <ac:spMk id="301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44:54.301" v="87" actId="20577"/>
          <ac:spMkLst>
            <pc:docMk/>
            <pc:sldMk cId="0" sldId="267"/>
            <ac:spMk id="302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8.170" v="42" actId="22"/>
          <ac:picMkLst>
            <pc:docMk/>
            <pc:sldMk cId="0" sldId="267"/>
            <ac:picMk id="31" creationId="{B615224D-89F5-497D-234E-BF4910E7B09B}"/>
          </ac:picMkLst>
        </pc:picChg>
      </pc:sldChg>
      <pc:sldChg chg="addSp modSp mod">
        <pc:chgData name="Felipe Sandoval" userId="da2cd21e4c60ce66" providerId="LiveId" clId="{BBD4A2B8-75E4-430D-B085-7ACD9BF9C15D}" dt="2026-09-01T03:00:45.071" v="111" actId="20577"/>
        <pc:sldMkLst>
          <pc:docMk/>
          <pc:sldMk cId="0" sldId="268"/>
        </pc:sldMkLst>
        <pc:spChg chg="mod">
          <ac:chgData name="Felipe Sandoval" userId="da2cd21e4c60ce66" providerId="LiveId" clId="{BBD4A2B8-75E4-430D-B085-7ACD9BF9C15D}" dt="2026-09-01T03:00:45.071" v="111" actId="20577"/>
          <ac:spMkLst>
            <pc:docMk/>
            <pc:sldMk cId="0" sldId="268"/>
            <ac:spMk id="9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29.719" v="43" actId="22"/>
          <ac:picMkLst>
            <pc:docMk/>
            <pc:sldMk cId="0" sldId="268"/>
            <ac:picMk id="37" creationId="{525BC873-0A86-4390-12D4-BFF293F960D6}"/>
          </ac:picMkLst>
        </pc:picChg>
      </pc:sldChg>
      <pc:sldChg chg="addSp delSp modSp mod">
        <pc:chgData name="Felipe Sandoval" userId="da2cd21e4c60ce66" providerId="LiveId" clId="{BBD4A2B8-75E4-430D-B085-7ACD9BF9C15D}" dt="2026-09-01T03:00:48.410" v="113" actId="20577"/>
        <pc:sldMkLst>
          <pc:docMk/>
          <pc:sldMk cId="0" sldId="269"/>
        </pc:sldMkLst>
        <pc:spChg chg="mod">
          <ac:chgData name="Felipe Sandoval" userId="da2cd21e4c60ce66" providerId="LiveId" clId="{BBD4A2B8-75E4-430D-B085-7ACD9BF9C15D}" dt="2026-08-31T23:34:20.810" v="31" actId="14100"/>
          <ac:spMkLst>
            <pc:docMk/>
            <pc:sldMk cId="0" sldId="269"/>
            <ac:spMk id="2" creationId="{00000000-0000-0000-0000-000000000000}"/>
          </ac:spMkLst>
        </pc:spChg>
        <pc:spChg chg="mod">
          <ac:chgData name="Felipe Sandoval" userId="da2cd21e4c60ce66" providerId="LiveId" clId="{BBD4A2B8-75E4-430D-B085-7ACD9BF9C15D}" dt="2026-08-31T23:33:03.276" v="22" actId="1076"/>
          <ac:spMkLst>
            <pc:docMk/>
            <pc:sldMk cId="0" sldId="269"/>
            <ac:spMk id="7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18.077" v="18" actId="478"/>
          <ac:spMkLst>
            <pc:docMk/>
            <pc:sldMk cId="0" sldId="269"/>
            <ac:spMk id="8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3:00:48.410" v="113" actId="20577"/>
          <ac:spMkLst>
            <pc:docMk/>
            <pc:sldMk cId="0" sldId="269"/>
            <ac:spMk id="9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1:56.163" v="0" actId="478"/>
          <ac:spMkLst>
            <pc:docMk/>
            <pc:sldMk cId="0" sldId="269"/>
            <ac:spMk id="11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1:59.753" v="4" actId="478"/>
          <ac:spMkLst>
            <pc:docMk/>
            <pc:sldMk cId="0" sldId="269"/>
            <ac:spMk id="12" creationId="{00000000-0000-0000-0000-000000000000}"/>
          </ac:spMkLst>
        </pc:spChg>
        <pc:spChg chg="del mod">
          <ac:chgData name="Felipe Sandoval" userId="da2cd21e4c60ce66" providerId="LiveId" clId="{BBD4A2B8-75E4-430D-B085-7ACD9BF9C15D}" dt="2026-08-31T23:31:59.308" v="3" actId="478"/>
          <ac:spMkLst>
            <pc:docMk/>
            <pc:sldMk cId="0" sldId="269"/>
            <ac:spMk id="14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06.320" v="11" actId="478"/>
          <ac:spMkLst>
            <pc:docMk/>
            <pc:sldMk cId="0" sldId="269"/>
            <ac:spMk id="15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04.667" v="10" actId="478"/>
          <ac:spMkLst>
            <pc:docMk/>
            <pc:sldMk cId="0" sldId="269"/>
            <ac:spMk id="16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00.762" v="5" actId="478"/>
          <ac:spMkLst>
            <pc:docMk/>
            <pc:sldMk cId="0" sldId="269"/>
            <ac:spMk id="17" creationId="{00000000-0000-0000-0000-000000000000}"/>
          </ac:spMkLst>
        </pc:spChg>
        <pc:spChg chg="del mod">
          <ac:chgData name="Felipe Sandoval" userId="da2cd21e4c60ce66" providerId="LiveId" clId="{BBD4A2B8-75E4-430D-B085-7ACD9BF9C15D}" dt="2026-08-31T23:32:03.649" v="9" actId="478"/>
          <ac:spMkLst>
            <pc:docMk/>
            <pc:sldMk cId="0" sldId="269"/>
            <ac:spMk id="19" creationId="{00000000-0000-0000-0000-000000000000}"/>
          </ac:spMkLst>
        </pc:spChg>
        <pc:spChg chg="del mod">
          <ac:chgData name="Felipe Sandoval" userId="da2cd21e4c60ce66" providerId="LiveId" clId="{BBD4A2B8-75E4-430D-B085-7ACD9BF9C15D}" dt="2026-08-31T23:32:02.787" v="8" actId="478"/>
          <ac:spMkLst>
            <pc:docMk/>
            <pc:sldMk cId="0" sldId="269"/>
            <ac:spMk id="20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07.207" v="12" actId="478"/>
          <ac:spMkLst>
            <pc:docMk/>
            <pc:sldMk cId="0" sldId="269"/>
            <ac:spMk id="21" creationId="{00000000-0000-0000-0000-000000000000}"/>
          </ac:spMkLst>
        </pc:spChg>
        <pc:spChg chg="del">
          <ac:chgData name="Felipe Sandoval" userId="da2cd21e4c60ce66" providerId="LiveId" clId="{BBD4A2B8-75E4-430D-B085-7ACD9BF9C15D}" dt="2026-08-31T23:32:09.631" v="14" actId="478"/>
          <ac:spMkLst>
            <pc:docMk/>
            <pc:sldMk cId="0" sldId="269"/>
            <ac:spMk id="23" creationId="{00000000-0000-0000-0000-000000000000}"/>
          </ac:spMkLst>
        </pc:spChg>
        <pc:picChg chg="mod">
          <ac:chgData name="Felipe Sandoval" userId="da2cd21e4c60ce66" providerId="LiveId" clId="{BBD4A2B8-75E4-430D-B085-7ACD9BF9C15D}" dt="2026-08-31T23:33:06.037" v="23" actId="1076"/>
          <ac:picMkLst>
            <pc:docMk/>
            <pc:sldMk cId="0" sldId="269"/>
            <ac:picMk id="6" creationId="{00000000-0000-0000-0000-000000000000}"/>
          </ac:picMkLst>
        </pc:picChg>
        <pc:picChg chg="del">
          <ac:chgData name="Felipe Sandoval" userId="da2cd21e4c60ce66" providerId="LiveId" clId="{BBD4A2B8-75E4-430D-B085-7ACD9BF9C15D}" dt="2026-08-31T23:32:08.402" v="13" actId="478"/>
          <ac:picMkLst>
            <pc:docMk/>
            <pc:sldMk cId="0" sldId="269"/>
            <ac:picMk id="22" creationId="{00000000-0000-0000-0000-000000000000}"/>
          </ac:picMkLst>
        </pc:picChg>
        <pc:picChg chg="add del mod">
          <ac:chgData name="Felipe Sandoval" userId="da2cd21e4c60ce66" providerId="LiveId" clId="{BBD4A2B8-75E4-430D-B085-7ACD9BF9C15D}" dt="2026-08-31T23:34:01.703" v="27" actId="478"/>
          <ac:picMkLst>
            <pc:docMk/>
            <pc:sldMk cId="0" sldId="269"/>
            <ac:picMk id="25" creationId="{0C833DC8-804A-D177-65E8-E7E30833DED4}"/>
          </ac:picMkLst>
        </pc:picChg>
        <pc:picChg chg="add mod">
          <ac:chgData name="Felipe Sandoval" userId="da2cd21e4c60ce66" providerId="LiveId" clId="{BBD4A2B8-75E4-430D-B085-7ACD9BF9C15D}" dt="2026-08-31T23:34:17.305" v="30" actId="1076"/>
          <ac:picMkLst>
            <pc:docMk/>
            <pc:sldMk cId="0" sldId="269"/>
            <ac:picMk id="27" creationId="{C59D2E22-E778-174E-C1EE-1CB963C03F03}"/>
          </ac:picMkLst>
        </pc:picChg>
        <pc:picChg chg="add">
          <ac:chgData name="Felipe Sandoval" userId="da2cd21e4c60ce66" providerId="LiveId" clId="{BBD4A2B8-75E4-430D-B085-7ACD9BF9C15D}" dt="2026-08-31T23:35:33.156" v="44" actId="22"/>
          <ac:picMkLst>
            <pc:docMk/>
            <pc:sldMk cId="0" sldId="269"/>
            <ac:picMk id="29" creationId="{C729FE72-5D71-5D38-68B5-07B7F68CB6DA}"/>
          </ac:picMkLst>
        </pc:picChg>
      </pc:sldChg>
      <pc:sldChg chg="addSp delSp modSp mod">
        <pc:chgData name="Felipe Sandoval" userId="da2cd21e4c60ce66" providerId="LiveId" clId="{BBD4A2B8-75E4-430D-B085-7ACD9BF9C15D}" dt="2026-09-01T03:00:58.785" v="115" actId="20577"/>
        <pc:sldMkLst>
          <pc:docMk/>
          <pc:sldMk cId="0" sldId="270"/>
        </pc:sldMkLst>
        <pc:spChg chg="mod">
          <ac:chgData name="Felipe Sandoval" userId="da2cd21e4c60ce66" providerId="LiveId" clId="{BBD4A2B8-75E4-430D-B085-7ACD9BF9C15D}" dt="2026-09-01T03:00:58.785" v="115" actId="20577"/>
          <ac:spMkLst>
            <pc:docMk/>
            <pc:sldMk cId="0" sldId="270"/>
            <ac:spMk id="7" creationId="{00000000-0000-0000-0000-000000000000}"/>
          </ac:spMkLst>
        </pc:spChg>
        <pc:spChg chg="mod">
          <ac:chgData name="Felipe Sandoval" userId="da2cd21e4c60ce66" providerId="LiveId" clId="{BBD4A2B8-75E4-430D-B085-7ACD9BF9C15D}" dt="2026-09-01T02:41:13.125" v="75" actId="1076"/>
          <ac:spMkLst>
            <pc:docMk/>
            <pc:sldMk cId="0" sldId="270"/>
            <ac:spMk id="129" creationId="{00000000-0000-0000-0000-000000000000}"/>
          </ac:spMkLst>
        </pc:spChg>
        <pc:picChg chg="add">
          <ac:chgData name="Felipe Sandoval" userId="da2cd21e4c60ce66" providerId="LiveId" clId="{BBD4A2B8-75E4-430D-B085-7ACD9BF9C15D}" dt="2026-08-31T23:35:35.985" v="45" actId="22"/>
          <ac:picMkLst>
            <pc:docMk/>
            <pc:sldMk cId="0" sldId="270"/>
            <ac:picMk id="10" creationId="{7E87E09D-6F6E-B277-7705-C9A982DFF5AF}"/>
          </ac:picMkLst>
        </pc:picChg>
        <pc:picChg chg="add del">
          <ac:chgData name="Felipe Sandoval" userId="da2cd21e4c60ce66" providerId="LiveId" clId="{BBD4A2B8-75E4-430D-B085-7ACD9BF9C15D}" dt="2026-09-01T02:42:04.706" v="77" actId="478"/>
          <ac:picMkLst>
            <pc:docMk/>
            <pc:sldMk cId="0" sldId="270"/>
            <ac:picMk id="25" creationId="{B0BAB3DC-992F-82E4-E5FB-BB69E942F639}"/>
          </ac:picMkLst>
        </pc:picChg>
      </pc:sldChg>
      <pc:sldChg chg="addSp mod">
        <pc:chgData name="Felipe Sandoval" userId="da2cd21e4c60ce66" providerId="LiveId" clId="{BBD4A2B8-75E4-430D-B085-7ACD9BF9C15D}" dt="2026-08-31T23:35:39.598" v="46" actId="22"/>
        <pc:sldMkLst>
          <pc:docMk/>
          <pc:sldMk cId="0" sldId="271"/>
        </pc:sldMkLst>
        <pc:picChg chg="add">
          <ac:chgData name="Felipe Sandoval" userId="da2cd21e4c60ce66" providerId="LiveId" clId="{BBD4A2B8-75E4-430D-B085-7ACD9BF9C15D}" dt="2026-08-31T23:35:39.598" v="46" actId="22"/>
          <ac:picMkLst>
            <pc:docMk/>
            <pc:sldMk cId="0" sldId="271"/>
            <ac:picMk id="23" creationId="{6ECB5D87-16B6-5F42-934A-BFD6A6F6E589}"/>
          </ac:picMkLst>
        </pc:picChg>
      </pc:sldChg>
      <pc:sldChg chg="modSp mod">
        <pc:chgData name="Felipe Sandoval" userId="da2cd21e4c60ce66" providerId="LiveId" clId="{BBD4A2B8-75E4-430D-B085-7ACD9BF9C15D}" dt="2026-09-01T03:00:05.340" v="97" actId="20577"/>
        <pc:sldMkLst>
          <pc:docMk/>
          <pc:sldMk cId="0" sldId="272"/>
        </pc:sldMkLst>
        <pc:spChg chg="mod">
          <ac:chgData name="Felipe Sandoval" userId="da2cd21e4c60ce66" providerId="LiveId" clId="{BBD4A2B8-75E4-430D-B085-7ACD9BF9C15D}" dt="2026-09-01T03:00:05.340" v="97" actId="20577"/>
          <ac:spMkLst>
            <pc:docMk/>
            <pc:sldMk cId="0" sldId="272"/>
            <ac:spMk id="6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74595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Portada. Presentar el nombre del proyecto, el equipo y la idea en una frase.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Índice de la presentación: 14 secciones.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Explicar qué es MeetTennis en una frase y por qué el proyecto es pertinente para el perfil de egreso.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Existen soluciones parciales, pero el espacio exacto que ocupa MeetTennis está vacío.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problema es doble: falta de rival y falta de información ordenada de canchas.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Lámina reservada: adjuntar aquí las imágenes de evidencia.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componentes: perfil, matching y sugerencia de cancha. Cerrar con el objetivo general.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18 semanas divididas en 9 sprints de 2 semanas, agrupados en las 3 fases de la asignatura.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Cada integrante tiene un frente definido; el líder técnico apoya al resto al cerrar sus tareas.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El diagrama de arquitectura de 3 capas se muestra como imagen de apoyo.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Cuatro competencias centrales del perfil de egreso, con su evidencia concreta en el proyecto.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Tres riesgos principales, cada uno con una mitigación concreta y realista.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Cinco medidas de seguridad, desde la autenticación hasta el cumplimiento de la Ley 19.628.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Dejar claro que el modelo de negocio es proyección futura, no parte del MVP.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Recorrer las 6 pantallas del flujo: registro, perfil, buscar rival, confirmación de match, cancha sugerida y confirmación de reserva.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s-CL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Cierre: problema real, alcance realista y coherencia con el perfil de egreso.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3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4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3.png"/><Relationship Id="rId7" Type="http://schemas.openxmlformats.org/officeDocument/2006/relationships/image" Target="../media/image3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30.png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5.png"/><Relationship Id="rId3" Type="http://schemas.openxmlformats.org/officeDocument/2006/relationships/image" Target="../media/image3.png"/><Relationship Id="rId7" Type="http://schemas.openxmlformats.org/officeDocument/2006/relationships/image" Target="../media/image4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3.png"/><Relationship Id="rId5" Type="http://schemas.openxmlformats.org/officeDocument/2006/relationships/image" Target="../media/image42.png"/><Relationship Id="rId10" Type="http://schemas.openxmlformats.org/officeDocument/2006/relationships/image" Target="../media/image4.png"/><Relationship Id="rId4" Type="http://schemas.openxmlformats.org/officeDocument/2006/relationships/image" Target="../media/image41.png"/><Relationship Id="rId9" Type="http://schemas.openxmlformats.org/officeDocument/2006/relationships/image" Target="../media/image46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03920" y="-1463040"/>
            <a:ext cx="5669280" cy="566928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241280" y="4206240"/>
            <a:ext cx="3108960" cy="310896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720" y="1417320"/>
            <a:ext cx="2377440" cy="237744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31520" y="1417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PROYECTO DE TÍTULO · FASE 1</a:t>
            </a:r>
            <a:endParaRPr lang="en-US" sz="1400" dirty="0"/>
          </a:p>
        </p:txBody>
      </p:sp>
      <p:sp>
        <p:nvSpPr>
          <p:cNvPr id="6" name="Text 3"/>
          <p:cNvSpPr txBox="1"/>
          <p:nvPr/>
        </p:nvSpPr>
        <p:spPr>
          <a:xfrm>
            <a:off x="640080" y="1874520"/>
            <a:ext cx="7863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MeetTennis</a:t>
            </a:r>
            <a:endParaRPr lang="en-US" sz="6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3154680"/>
            <a:ext cx="7498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i="1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Encuentra rival, reserva cancha y vuelve a jugar.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40080" y="3977640"/>
            <a:ext cx="7589520" cy="1143000"/>
          </a:xfrm>
          <a:prstGeom prst="roundRect">
            <a:avLst>
              <a:gd name="adj" fmla="val 9600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9" name="Text 6"/>
          <p:cNvSpPr txBox="1"/>
          <p:nvPr/>
        </p:nvSpPr>
        <p:spPr>
          <a:xfrm>
            <a:off x="960120" y="4114800"/>
            <a:ext cx="6949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200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Integrantes del equipo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960120" y="443484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Fabián Baeza   ·   Felipe Sandoval   ·   Sebastián Toledo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640080" y="5669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DBF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Aplicación web progresiva para la comunidad de tenis de Santiago</a:t>
            </a:r>
            <a:endParaRPr lang="en-US" sz="1300" dirty="0"/>
          </a:p>
        </p:txBody>
      </p:sp>
      <p:pic>
        <p:nvPicPr>
          <p:cNvPr id="19" name="Imagen 18">
            <a:extLst>
              <a:ext uri="{FF2B5EF4-FFF2-40B4-BE49-F238E27FC236}">
                <a16:creationId xmlns:a16="http://schemas.microsoft.com/office/drawing/2014/main" id="{403EEC77-D045-0FA1-2B55-7D1F690EB59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-358398" y="-31430"/>
            <a:ext cx="2486377" cy="13573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023360" cy="402336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26496" y="4974336"/>
            <a:ext cx="2304288" cy="2304288"/>
          </a:xfrm>
          <a:prstGeom prst="ellipse">
            <a:avLst/>
          </a:prstGeom>
          <a:solidFill>
            <a:srgbClr val="F5FAEE"/>
          </a:solidFill>
          <a:ln w="12700">
            <a:solidFill>
              <a:srgbClr val="F5FA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38560" y="1737360"/>
            <a:ext cx="822960" cy="82296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Índice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Recorrido de la presentación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566928" y="1426464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749808" y="1536192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749808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1298448" y="14264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</a:t>
            </a:r>
            <a:endParaRPr lang="en-US" sz="1500" dirty="0"/>
          </a:p>
        </p:txBody>
      </p:sp>
      <p:sp>
        <p:nvSpPr>
          <p:cNvPr id="15" name="Shape 12"/>
          <p:cNvSpPr/>
          <p:nvPr/>
        </p:nvSpPr>
        <p:spPr>
          <a:xfrm>
            <a:off x="566928" y="2084832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3"/>
          <p:cNvSpPr/>
          <p:nvPr/>
        </p:nvSpPr>
        <p:spPr>
          <a:xfrm>
            <a:off x="749808" y="2194560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Text 14"/>
          <p:cNvSpPr txBox="1"/>
          <p:nvPr/>
        </p:nvSpPr>
        <p:spPr>
          <a:xfrm>
            <a:off x="74980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298448" y="20848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Contexto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566928" y="2743200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0" name="Shape 17"/>
          <p:cNvSpPr/>
          <p:nvPr/>
        </p:nvSpPr>
        <p:spPr>
          <a:xfrm>
            <a:off x="749808" y="2852928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1" name="Text 18"/>
          <p:cNvSpPr txBox="1"/>
          <p:nvPr/>
        </p:nvSpPr>
        <p:spPr>
          <a:xfrm>
            <a:off x="74980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298448" y="2743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</a:t>
            </a:r>
            <a:endParaRPr lang="en-US" sz="1500" dirty="0"/>
          </a:p>
        </p:txBody>
      </p:sp>
      <p:sp>
        <p:nvSpPr>
          <p:cNvPr id="23" name="Shape 20"/>
          <p:cNvSpPr/>
          <p:nvPr/>
        </p:nvSpPr>
        <p:spPr>
          <a:xfrm>
            <a:off x="566928" y="3401568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21"/>
          <p:cNvSpPr/>
          <p:nvPr/>
        </p:nvSpPr>
        <p:spPr>
          <a:xfrm>
            <a:off x="749808" y="3511296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5" name="Text 22"/>
          <p:cNvSpPr txBox="1"/>
          <p:nvPr/>
        </p:nvSpPr>
        <p:spPr>
          <a:xfrm>
            <a:off x="74980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100" dirty="0"/>
          </a:p>
        </p:txBody>
      </p:sp>
      <p:sp>
        <p:nvSpPr>
          <p:cNvPr id="26" name="Text 23"/>
          <p:cNvSpPr txBox="1"/>
          <p:nvPr/>
        </p:nvSpPr>
        <p:spPr>
          <a:xfrm>
            <a:off x="1298448" y="3401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Evidencia</a:t>
            </a:r>
            <a:endParaRPr lang="en-US" sz="1500" dirty="0"/>
          </a:p>
        </p:txBody>
      </p:sp>
      <p:sp>
        <p:nvSpPr>
          <p:cNvPr id="27" name="Shape 24"/>
          <p:cNvSpPr/>
          <p:nvPr/>
        </p:nvSpPr>
        <p:spPr>
          <a:xfrm>
            <a:off x="566928" y="4059936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8" name="Shape 25"/>
          <p:cNvSpPr/>
          <p:nvPr/>
        </p:nvSpPr>
        <p:spPr>
          <a:xfrm>
            <a:off x="749808" y="4169664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6"/>
          <p:cNvSpPr txBox="1"/>
          <p:nvPr/>
        </p:nvSpPr>
        <p:spPr>
          <a:xfrm>
            <a:off x="74980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298448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Solución</a:t>
            </a:r>
            <a:endParaRPr lang="en-US" sz="1500" dirty="0"/>
          </a:p>
        </p:txBody>
      </p:sp>
      <p:sp>
        <p:nvSpPr>
          <p:cNvPr id="31" name="Shape 28"/>
          <p:cNvSpPr/>
          <p:nvPr/>
        </p:nvSpPr>
        <p:spPr>
          <a:xfrm>
            <a:off x="566928" y="4718304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9"/>
          <p:cNvSpPr/>
          <p:nvPr/>
        </p:nvSpPr>
        <p:spPr>
          <a:xfrm>
            <a:off x="749808" y="4828032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3" name="Text 30"/>
          <p:cNvSpPr txBox="1"/>
          <p:nvPr/>
        </p:nvSpPr>
        <p:spPr>
          <a:xfrm>
            <a:off x="74980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1298448" y="47183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y Plan</a:t>
            </a:r>
            <a:endParaRPr lang="en-US" sz="1500" dirty="0"/>
          </a:p>
        </p:txBody>
      </p:sp>
      <p:sp>
        <p:nvSpPr>
          <p:cNvPr id="35" name="Shape 32"/>
          <p:cNvSpPr/>
          <p:nvPr/>
        </p:nvSpPr>
        <p:spPr>
          <a:xfrm>
            <a:off x="566928" y="5376672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6" name="Shape 33"/>
          <p:cNvSpPr/>
          <p:nvPr/>
        </p:nvSpPr>
        <p:spPr>
          <a:xfrm>
            <a:off x="749808" y="5486400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7" name="Text 34"/>
          <p:cNvSpPr txBox="1"/>
          <p:nvPr/>
        </p:nvSpPr>
        <p:spPr>
          <a:xfrm>
            <a:off x="74980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298448" y="53766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del equipo</a:t>
            </a:r>
            <a:endParaRPr lang="en-US" sz="1500" dirty="0"/>
          </a:p>
        </p:txBody>
      </p:sp>
      <p:sp>
        <p:nvSpPr>
          <p:cNvPr id="39" name="Shape 36"/>
          <p:cNvSpPr/>
          <p:nvPr/>
        </p:nvSpPr>
        <p:spPr>
          <a:xfrm>
            <a:off x="6144768" y="1426464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0" name="Shape 37"/>
          <p:cNvSpPr/>
          <p:nvPr/>
        </p:nvSpPr>
        <p:spPr>
          <a:xfrm>
            <a:off x="6327648" y="1536192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1" name="Text 38"/>
          <p:cNvSpPr txBox="1"/>
          <p:nvPr/>
        </p:nvSpPr>
        <p:spPr>
          <a:xfrm>
            <a:off x="6327648" y="15361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876288" y="142646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Tecnológico</a:t>
            </a:r>
            <a:endParaRPr lang="en-US" sz="1500" dirty="0"/>
          </a:p>
        </p:txBody>
      </p:sp>
      <p:sp>
        <p:nvSpPr>
          <p:cNvPr id="43" name="Shape 40"/>
          <p:cNvSpPr/>
          <p:nvPr/>
        </p:nvSpPr>
        <p:spPr>
          <a:xfrm>
            <a:off x="6144768" y="2084832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4" name="Shape 41"/>
          <p:cNvSpPr/>
          <p:nvPr/>
        </p:nvSpPr>
        <p:spPr>
          <a:xfrm>
            <a:off x="6327648" y="2194560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5" name="Text 42"/>
          <p:cNvSpPr txBox="1"/>
          <p:nvPr/>
        </p:nvSpPr>
        <p:spPr>
          <a:xfrm>
            <a:off x="6327648" y="21945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6876288" y="208483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</a:t>
            </a:r>
            <a:endParaRPr lang="en-US" sz="1500" dirty="0"/>
          </a:p>
        </p:txBody>
      </p:sp>
      <p:sp>
        <p:nvSpPr>
          <p:cNvPr id="47" name="Shape 44"/>
          <p:cNvSpPr/>
          <p:nvPr/>
        </p:nvSpPr>
        <p:spPr>
          <a:xfrm>
            <a:off x="6144768" y="2743200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48" name="Shape 45"/>
          <p:cNvSpPr/>
          <p:nvPr/>
        </p:nvSpPr>
        <p:spPr>
          <a:xfrm>
            <a:off x="6327648" y="2852928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9" name="Text 46"/>
          <p:cNvSpPr txBox="1"/>
          <p:nvPr/>
        </p:nvSpPr>
        <p:spPr>
          <a:xfrm>
            <a:off x="6327648" y="28529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100" dirty="0"/>
          </a:p>
        </p:txBody>
      </p:sp>
      <p:sp>
        <p:nvSpPr>
          <p:cNvPr id="50" name="Text 47"/>
          <p:cNvSpPr txBox="1"/>
          <p:nvPr/>
        </p:nvSpPr>
        <p:spPr>
          <a:xfrm>
            <a:off x="6876288" y="274320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Riesgos</a:t>
            </a:r>
            <a:endParaRPr lang="en-US" sz="1500" dirty="0"/>
          </a:p>
        </p:txBody>
      </p:sp>
      <p:sp>
        <p:nvSpPr>
          <p:cNvPr id="51" name="Shape 48"/>
          <p:cNvSpPr/>
          <p:nvPr/>
        </p:nvSpPr>
        <p:spPr>
          <a:xfrm>
            <a:off x="6144768" y="3401568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2" name="Shape 49"/>
          <p:cNvSpPr/>
          <p:nvPr/>
        </p:nvSpPr>
        <p:spPr>
          <a:xfrm>
            <a:off x="6327648" y="3511296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3" name="Text 50"/>
          <p:cNvSpPr txBox="1"/>
          <p:nvPr/>
        </p:nvSpPr>
        <p:spPr>
          <a:xfrm>
            <a:off x="6327648" y="35112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6876288" y="340156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</a:t>
            </a:r>
            <a:endParaRPr lang="en-US" sz="1500" dirty="0"/>
          </a:p>
        </p:txBody>
      </p:sp>
      <p:sp>
        <p:nvSpPr>
          <p:cNvPr id="55" name="Shape 52"/>
          <p:cNvSpPr/>
          <p:nvPr/>
        </p:nvSpPr>
        <p:spPr>
          <a:xfrm>
            <a:off x="6144768" y="4059936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56" name="Shape 53"/>
          <p:cNvSpPr/>
          <p:nvPr/>
        </p:nvSpPr>
        <p:spPr>
          <a:xfrm>
            <a:off x="6327648" y="4169664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7" name="Text 54"/>
          <p:cNvSpPr txBox="1"/>
          <p:nvPr/>
        </p:nvSpPr>
        <p:spPr>
          <a:xfrm>
            <a:off x="6327648" y="4169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100" dirty="0"/>
          </a:p>
        </p:txBody>
      </p:sp>
      <p:sp>
        <p:nvSpPr>
          <p:cNvPr id="58" name="Text 55"/>
          <p:cNvSpPr txBox="1"/>
          <p:nvPr/>
        </p:nvSpPr>
        <p:spPr>
          <a:xfrm>
            <a:off x="6876288" y="405993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Negocio</a:t>
            </a:r>
            <a:endParaRPr lang="en-US" sz="1500" dirty="0"/>
          </a:p>
        </p:txBody>
      </p:sp>
      <p:sp>
        <p:nvSpPr>
          <p:cNvPr id="59" name="Shape 56"/>
          <p:cNvSpPr/>
          <p:nvPr/>
        </p:nvSpPr>
        <p:spPr>
          <a:xfrm>
            <a:off x="6144768" y="4718304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0" name="Shape 57"/>
          <p:cNvSpPr/>
          <p:nvPr/>
        </p:nvSpPr>
        <p:spPr>
          <a:xfrm>
            <a:off x="6327648" y="4828032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1" name="Text 58"/>
          <p:cNvSpPr txBox="1"/>
          <p:nvPr/>
        </p:nvSpPr>
        <p:spPr>
          <a:xfrm>
            <a:off x="6327648" y="48280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100" dirty="0"/>
          </a:p>
        </p:txBody>
      </p:sp>
      <p:sp>
        <p:nvSpPr>
          <p:cNvPr id="62" name="Text 59"/>
          <p:cNvSpPr txBox="1"/>
          <p:nvPr/>
        </p:nvSpPr>
        <p:spPr>
          <a:xfrm>
            <a:off x="6876288" y="471830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Mockup</a:t>
            </a:r>
            <a:endParaRPr lang="en-US" sz="1500" dirty="0"/>
          </a:p>
        </p:txBody>
      </p:sp>
      <p:sp>
        <p:nvSpPr>
          <p:cNvPr id="63" name="Shape 60"/>
          <p:cNvSpPr/>
          <p:nvPr/>
        </p:nvSpPr>
        <p:spPr>
          <a:xfrm>
            <a:off x="6144768" y="5376672"/>
            <a:ext cx="5074920" cy="566928"/>
          </a:xfrm>
          <a:prstGeom prst="roundRect">
            <a:avLst>
              <a:gd name="adj" fmla="val 19355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1B5E3A">
                <a:alpha val="7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64" name="Shape 61"/>
          <p:cNvSpPr/>
          <p:nvPr/>
        </p:nvSpPr>
        <p:spPr>
          <a:xfrm>
            <a:off x="6327648" y="5486400"/>
            <a:ext cx="365760" cy="36576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65" name="Text 62"/>
          <p:cNvSpPr txBox="1"/>
          <p:nvPr/>
        </p:nvSpPr>
        <p:spPr>
          <a:xfrm>
            <a:off x="6327648" y="54864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</a:t>
            </a:r>
            <a:endParaRPr lang="en-US" sz="1100" dirty="0"/>
          </a:p>
        </p:txBody>
      </p:sp>
      <p:sp>
        <p:nvSpPr>
          <p:cNvPr id="66" name="Text 63"/>
          <p:cNvSpPr txBox="1"/>
          <p:nvPr/>
        </p:nvSpPr>
        <p:spPr>
          <a:xfrm>
            <a:off x="6876288" y="537667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Conclusión</a:t>
            </a:r>
            <a:endParaRPr lang="en-US" sz="1500" dirty="0"/>
          </a:p>
        </p:txBody>
      </p:sp>
      <p:pic>
        <p:nvPicPr>
          <p:cNvPr id="68" name="Imagen 67">
            <a:extLst>
              <a:ext uri="{FF2B5EF4-FFF2-40B4-BE49-F238E27FC236}">
                <a16:creationId xmlns:a16="http://schemas.microsoft.com/office/drawing/2014/main" id="{E13B0FB3-2FF8-E036-5D00-A56BBCE0368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3840480" cy="384048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005840" y="5120640"/>
            <a:ext cx="2560320" cy="256032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804672" y="5321808"/>
            <a:ext cx="2157984" cy="21579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Introducción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es MeetTennis?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640080" y="1417320"/>
            <a:ext cx="64922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6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MeetTennis es una aplicación web progresiva (PWA) que ayuda a los jugadores de tenis de Santiago a encontrar un rival según su nivel, experiencia y ubicación, y a coordinar el arriendo de una cancha conveniente para ambos.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40080" y="2843784"/>
            <a:ext cx="402336" cy="402336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2944368"/>
            <a:ext cx="201168" cy="20116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207008" y="278892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rival</a:t>
            </a:r>
            <a:endParaRPr lang="en-US" sz="1500" dirty="0"/>
          </a:p>
        </p:txBody>
      </p:sp>
      <p:sp>
        <p:nvSpPr>
          <p:cNvPr id="14" name="Text 10"/>
          <p:cNvSpPr txBox="1"/>
          <p:nvPr/>
        </p:nvSpPr>
        <p:spPr>
          <a:xfrm>
            <a:off x="1207008" y="309981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Jugadores compatibles por nivel y cercanía.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3895344"/>
            <a:ext cx="402336" cy="402336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40664" y="3995928"/>
            <a:ext cx="201168" cy="201168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1207008" y="384048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cancha</a:t>
            </a:r>
            <a:endParaRPr lang="en-US" sz="1500" dirty="0"/>
          </a:p>
        </p:txBody>
      </p:sp>
      <p:sp>
        <p:nvSpPr>
          <p:cNvPr id="18" name="Text 13"/>
          <p:cNvSpPr txBox="1"/>
          <p:nvPr/>
        </p:nvSpPr>
        <p:spPr>
          <a:xfrm>
            <a:off x="1207008" y="415137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Recinto sugerido en un punto conveniente para ambos.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946904"/>
            <a:ext cx="402336" cy="402336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0664" y="5047488"/>
            <a:ext cx="201168" cy="201168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207008" y="4892040"/>
            <a:ext cx="5852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</a:t>
            </a:r>
            <a:r>
              <a:rPr lang="en-US" sz="1500" b="1" dirty="0" err="1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instalar</a:t>
            </a:r>
            <a:r>
              <a:rPr lang="en-US" sz="15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nada</a:t>
            </a:r>
            <a:endParaRPr lang="en-US" sz="1500" dirty="0"/>
          </a:p>
        </p:txBody>
      </p:sp>
      <p:sp>
        <p:nvSpPr>
          <p:cNvPr id="22" name="Text 16"/>
          <p:cNvSpPr txBox="1"/>
          <p:nvPr/>
        </p:nvSpPr>
        <p:spPr>
          <a:xfrm>
            <a:off x="1207008" y="5202936"/>
            <a:ext cx="5852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en el </a:t>
            </a:r>
            <a:r>
              <a:rPr lang="en-US" sz="1300" dirty="0" err="1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</a:t>
            </a: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se </a:t>
            </a:r>
            <a:r>
              <a:rPr lang="en-US" sz="1300" dirty="0" err="1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instala</a:t>
            </a: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300" dirty="0" err="1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</a:t>
            </a: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app.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7589520" y="1417320"/>
            <a:ext cx="3977640" cy="4480560"/>
          </a:xfrm>
          <a:prstGeom prst="roundRect">
            <a:avLst>
              <a:gd name="adj" fmla="val 2759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1783080"/>
            <a:ext cx="457200" cy="457200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7955280" y="2377440"/>
            <a:ext cx="3246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Relevancia para el campo laboral</a:t>
            </a:r>
            <a:endParaRPr lang="en-US" sz="2000" dirty="0"/>
          </a:p>
        </p:txBody>
      </p:sp>
      <p:sp>
        <p:nvSpPr>
          <p:cNvPr id="26" name="Text 19"/>
          <p:cNvSpPr txBox="1"/>
          <p:nvPr/>
        </p:nvSpPr>
        <p:spPr>
          <a:xfrm>
            <a:off x="7955280" y="3154680"/>
            <a:ext cx="324612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000"/>
              </a:spcAft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de forma integral el desarrollo web full-stack, el diseño de bases de datos relacionales y la gestión ágil de proyectos: habilidades muy demandadas hoy en la industria del software.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Además, se enmarca en una industria en crecimiento: las apps de conexión social y coordinación deportiva, un nicho real de oportunidad profesional.</a:t>
            </a:r>
            <a:endParaRPr lang="en-US" sz="1300" dirty="0"/>
          </a:p>
        </p:txBody>
      </p:sp>
      <p:pic>
        <p:nvPicPr>
          <p:cNvPr id="28" name="Imagen 27">
            <a:extLst>
              <a:ext uri="{FF2B5EF4-FFF2-40B4-BE49-F238E27FC236}">
                <a16:creationId xmlns:a16="http://schemas.microsoft.com/office/drawing/2014/main" id="{FC740255-EF77-BF02-5AB6-A42A1698F465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389120"/>
            <a:ext cx="4206240" cy="420624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765792" y="4645152"/>
            <a:ext cx="3694176" cy="3694176"/>
          </a:xfrm>
          <a:prstGeom prst="ellipse">
            <a:avLst/>
          </a:prstGeom>
          <a:solidFill>
            <a:srgbClr val="F5FAEE"/>
          </a:solidFill>
          <a:ln w="12700">
            <a:solidFill>
              <a:srgbClr val="F5FA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822960" y="5669280"/>
            <a:ext cx="2377440" cy="237744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de apps deportivas en crecimiento sostenido en Chile y Latinoamérica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960120" y="1847088"/>
            <a:ext cx="512064" cy="51206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8136" y="1975104"/>
            <a:ext cx="256032" cy="256032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645920" y="171907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EasyCancha / Alquila tu Cancha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645920" y="206654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Arriendo de canchas, enfoque multideporte y generalista.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40080" y="292608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960120" y="3310128"/>
            <a:ext cx="512064" cy="51206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88136" y="3438144"/>
            <a:ext cx="256032" cy="256032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645920" y="318211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Tenniscall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1645920" y="352958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entre jugadores, pero orientado al mercado internacional.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4389120"/>
            <a:ext cx="66751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960120" y="4773168"/>
            <a:ext cx="512064" cy="51206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88136" y="4901184"/>
            <a:ext cx="256032" cy="256032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645920" y="4645152"/>
            <a:ext cx="54864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y redes sociales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645920" y="4992624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Coordinación informal: hoy es la vía real de la comunidad en Santiago.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7772400" y="1463040"/>
            <a:ext cx="3794760" cy="4023360"/>
          </a:xfrm>
          <a:prstGeom prst="roundRect">
            <a:avLst>
              <a:gd name="adj" fmla="val 2892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Text 20"/>
          <p:cNvSpPr txBox="1"/>
          <p:nvPr/>
        </p:nvSpPr>
        <p:spPr>
          <a:xfrm>
            <a:off x="8092440" y="1828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 brecha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8092440" y="2423160"/>
            <a:ext cx="315468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spcAft>
                <a:spcPts val="1200"/>
              </a:spcAft>
              <a:buNone/>
            </a:pPr>
            <a:r>
              <a:rPr lang="en-US" sz="14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Ninguna solución combina, para Santiago: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Matchmaking por nivel de juego</a:t>
            </a:r>
            <a:endParaRPr lang="en-US" sz="1400" dirty="0"/>
          </a:p>
          <a:p>
            <a:pPr marL="342900" indent="-342900">
              <a:lnSpc>
                <a:spcPts val="2000"/>
              </a:lnSpc>
              <a:spcAft>
                <a:spcPts val="1000"/>
              </a:spcAft>
              <a:buSzPct val="100000"/>
              <a:buChar char="•"/>
            </a:pPr>
            <a:r>
              <a:rPr lang="en-US" sz="14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Cancha en un punto conveniente para ambos jugadores</a:t>
            </a:r>
            <a:endParaRPr lang="en-US" sz="1400" dirty="0"/>
          </a:p>
          <a:p>
            <a:pPr marL="342900" indent="-342900">
              <a:lnSpc>
                <a:spcPts val="2000"/>
              </a:lnSpc>
              <a:buSzPct val="100000"/>
              <a:buChar char="•"/>
            </a:pPr>
            <a:r>
              <a:rPr lang="en-US" sz="140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en una sola herramienta</a:t>
            </a:r>
            <a:endParaRPr lang="en-US" sz="1400" dirty="0"/>
          </a:p>
        </p:txBody>
      </p:sp>
      <p:pic>
        <p:nvPicPr>
          <p:cNvPr id="29" name="Imagen 28">
            <a:extLst>
              <a:ext uri="{FF2B5EF4-FFF2-40B4-BE49-F238E27FC236}">
                <a16:creationId xmlns:a16="http://schemas.microsoft.com/office/drawing/2014/main" id="{386D2326-A8A7-13BC-6CF7-C8F7AFE8755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E3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108960" cy="310896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188720" y="4480560"/>
            <a:ext cx="3291840" cy="329184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950976" y="4718304"/>
            <a:ext cx="2816352" cy="2816352"/>
          </a:xfrm>
          <a:prstGeom prst="ellipse">
            <a:avLst/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Problemática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Cientos de personas en Santiago quieren jugar tenis y no encuentran con quién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73736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187452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417320" y="167335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recién empieza</a:t>
            </a:r>
            <a:endParaRPr lang="en-US" sz="1700" dirty="0"/>
          </a:p>
        </p:txBody>
      </p:sp>
      <p:sp>
        <p:nvSpPr>
          <p:cNvPr id="13" name="Text 9"/>
          <p:cNvSpPr txBox="1"/>
          <p:nvPr/>
        </p:nvSpPr>
        <p:spPr>
          <a:xfrm>
            <a:off x="1417320" y="203911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conoce jugadores y no tiene dónde buscarlos.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40080" y="315468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3291840"/>
            <a:ext cx="274320" cy="27432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417320" y="309067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Quien juega habitualmente</a:t>
            </a:r>
            <a:endParaRPr lang="en-US" sz="1700" dirty="0"/>
          </a:p>
        </p:txBody>
      </p:sp>
      <p:sp>
        <p:nvSpPr>
          <p:cNvPr id="17" name="Text 12"/>
          <p:cNvSpPr txBox="1"/>
          <p:nvPr/>
        </p:nvSpPr>
        <p:spPr>
          <a:xfrm>
            <a:off x="1417320" y="345643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queda sin partido cuando su grupo no puede.</a:t>
            </a:r>
            <a:endParaRPr lang="en-US" sz="1400" dirty="0"/>
          </a:p>
        </p:txBody>
      </p:sp>
      <p:sp>
        <p:nvSpPr>
          <p:cNvPr id="18" name="Shape 13"/>
          <p:cNvSpPr/>
          <p:nvPr/>
        </p:nvSpPr>
        <p:spPr>
          <a:xfrm>
            <a:off x="640080" y="457200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7240" y="4709160"/>
            <a:ext cx="274320" cy="27432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1417320" y="4507992"/>
            <a:ext cx="5760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Información de canchas dispersa</a:t>
            </a:r>
            <a:endParaRPr lang="en-US" sz="1700" dirty="0"/>
          </a:p>
        </p:txBody>
      </p:sp>
      <p:sp>
        <p:nvSpPr>
          <p:cNvPr id="21" name="Text 15"/>
          <p:cNvSpPr txBox="1"/>
          <p:nvPr/>
        </p:nvSpPr>
        <p:spPr>
          <a:xfrm>
            <a:off x="1417320" y="4873752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Muchos recintos solo atienden por redes sociales y con datos desordenados.</a:t>
            </a:r>
            <a:endParaRPr lang="en-US" sz="1400" dirty="0"/>
          </a:p>
        </p:txBody>
      </p:sp>
      <p:sp>
        <p:nvSpPr>
          <p:cNvPr id="22" name="Shape 16"/>
          <p:cNvSpPr/>
          <p:nvPr/>
        </p:nvSpPr>
        <p:spPr>
          <a:xfrm>
            <a:off x="7589520" y="1508760"/>
            <a:ext cx="3977640" cy="4114800"/>
          </a:xfrm>
          <a:prstGeom prst="roundRect">
            <a:avLst>
              <a:gd name="adj" fmla="val 2759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7"/>
          <p:cNvSpPr txBox="1"/>
          <p:nvPr/>
        </p:nvSpPr>
        <p:spPr>
          <a:xfrm>
            <a:off x="7955280" y="187452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consecuencia</a:t>
            </a:r>
            <a:endParaRPr lang="en-US" sz="1300" dirty="0"/>
          </a:p>
        </p:txBody>
      </p:sp>
      <p:sp>
        <p:nvSpPr>
          <p:cNvPr id="24" name="Text 18"/>
          <p:cNvSpPr txBox="1"/>
          <p:nvPr/>
        </p:nvSpPr>
        <p:spPr>
          <a:xfrm>
            <a:off x="7955280" y="2331720"/>
            <a:ext cx="32918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3400"/>
              </a:lnSpc>
              <a:buNone/>
            </a:pPr>
            <a:r>
              <a:rPr lang="en-US" sz="30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juega menos de lo que se quisiera.</a:t>
            </a:r>
            <a:endParaRPr lang="en-US" sz="3000" dirty="0"/>
          </a:p>
        </p:txBody>
      </p:sp>
      <p:sp>
        <p:nvSpPr>
          <p:cNvPr id="25" name="Text 19"/>
          <p:cNvSpPr txBox="1"/>
          <p:nvPr/>
        </p:nvSpPr>
        <p:spPr>
          <a:xfrm>
            <a:off x="7955280" y="3977640"/>
            <a:ext cx="329184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i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Coordinar y armar un partido resulta tan complicado que muchos jugadores simplemente se desmotivan.</a:t>
            </a:r>
            <a:endParaRPr lang="en-US" sz="1400" dirty="0"/>
          </a:p>
        </p:txBody>
      </p:sp>
      <p:pic>
        <p:nvPicPr>
          <p:cNvPr id="27" name="Imagen 26">
            <a:extLst>
              <a:ext uri="{FF2B5EF4-FFF2-40B4-BE49-F238E27FC236}">
                <a16:creationId xmlns:a16="http://schemas.microsoft.com/office/drawing/2014/main" id="{8A68E2BF-5863-F5F3-35B0-5B43B566C5B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394960"/>
            <a:ext cx="2926080" cy="292608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Shape 1"/>
          <p:cNvSpPr/>
          <p:nvPr/>
        </p:nvSpPr>
        <p:spPr>
          <a:xfrm>
            <a:off x="11100816" y="5614416"/>
            <a:ext cx="2487168" cy="2487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125" y="38404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962863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Evidencia</a:t>
            </a:r>
            <a:endParaRPr lang="en-US" sz="4000" dirty="0"/>
          </a:p>
        </p:txBody>
      </p:sp>
      <p:sp>
        <p:nvSpPr>
          <p:cNvPr id="6" name="Text 3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875CC980-129F-89A3-3CDA-6520DE5F6B1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4102AEB-B690-57D0-B7DA-175583DCC69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47455" y="4487718"/>
            <a:ext cx="5192549" cy="2150259"/>
          </a:xfrm>
          <a:prstGeom prst="rect">
            <a:avLst/>
          </a:prstGeom>
        </p:spPr>
      </p:pic>
      <p:pic>
        <p:nvPicPr>
          <p:cNvPr id="13" name="Imagen 12">
            <a:extLst>
              <a:ext uri="{FF2B5EF4-FFF2-40B4-BE49-F238E27FC236}">
                <a16:creationId xmlns:a16="http://schemas.microsoft.com/office/drawing/2014/main" id="{EF769996-65C0-7A30-73F8-C5C0B9AE700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937189" y="353570"/>
            <a:ext cx="6378003" cy="695325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A58ECF4C-5501-EED6-5245-6E8C69BA34F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03780" y="1295152"/>
            <a:ext cx="7186843" cy="819150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6C365DDB-4155-6D55-8E22-B21F157358D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03780" y="2262052"/>
            <a:ext cx="6432596" cy="1323975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3A6135FD-F8DB-AB8C-781F-A6AFFBB7EE45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03780" y="3733778"/>
            <a:ext cx="6432596" cy="2923907"/>
          </a:xfrm>
          <a:prstGeom prst="rect">
            <a:avLst/>
          </a:prstGeom>
        </p:spPr>
      </p:pic>
      <p:pic>
        <p:nvPicPr>
          <p:cNvPr id="21" name="Imagen 20">
            <a:extLst>
              <a:ext uri="{FF2B5EF4-FFF2-40B4-BE49-F238E27FC236}">
                <a16:creationId xmlns:a16="http://schemas.microsoft.com/office/drawing/2014/main" id="{EE2204B8-1068-2D4E-B245-876ABDDBDEF5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983253" y="2262763"/>
            <a:ext cx="4974968" cy="2042075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F6125EB4-FD1E-E89B-E414-B44B4DAE76D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596732" y="1295152"/>
            <a:ext cx="4361489" cy="81516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023360" cy="402336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26496" y="4974336"/>
            <a:ext cx="2304288" cy="230428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38560" y="1737360"/>
            <a:ext cx="822960" cy="82296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componentes centrales que resuelven el problema de punta a punta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008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960120" y="1783080"/>
            <a:ext cx="621792" cy="621792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1938528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29184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15" name="Text 11"/>
          <p:cNvSpPr txBox="1"/>
          <p:nvPr/>
        </p:nvSpPr>
        <p:spPr>
          <a:xfrm>
            <a:off x="96012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usuario</a:t>
            </a:r>
            <a:endParaRPr lang="en-US" sz="170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29626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jugador declara su nivel de juego, su ubicación y su disponibilidad horaria.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3484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4754880" y="1783080"/>
            <a:ext cx="621792" cy="621792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10328" y="1938528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708660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21" name="Text 16"/>
          <p:cNvSpPr txBox="1"/>
          <p:nvPr/>
        </p:nvSpPr>
        <p:spPr>
          <a:xfrm>
            <a:off x="475488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de rivales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4754880" y="29626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listado de rivales categorizados por nivel y proximidad, dentro de un radio configurable.</a:t>
            </a:r>
            <a:endParaRPr lang="en-US" sz="1300" dirty="0"/>
          </a:p>
        </p:txBody>
      </p:sp>
      <p:sp>
        <p:nvSpPr>
          <p:cNvPr id="23" name="Shape 18"/>
          <p:cNvSpPr/>
          <p:nvPr/>
        </p:nvSpPr>
        <p:spPr>
          <a:xfrm>
            <a:off x="8229600" y="1508760"/>
            <a:ext cx="3520440" cy="2514600"/>
          </a:xfrm>
          <a:prstGeom prst="roundRect">
            <a:avLst>
              <a:gd name="adj" fmla="val 4364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8549640" y="1783080"/>
            <a:ext cx="621792" cy="621792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05088" y="1938528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0881360" y="173736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600" b="1" dirty="0">
                <a:solidFill>
                  <a:srgbClr val="DDE9C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27" name="Text 21"/>
          <p:cNvSpPr txBox="1"/>
          <p:nvPr/>
        </p:nvSpPr>
        <p:spPr>
          <a:xfrm>
            <a:off x="8549640" y="256032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Sugerencia de cancha</a:t>
            </a:r>
            <a:endParaRPr lang="en-US" sz="1700" dirty="0"/>
          </a:p>
        </p:txBody>
      </p:sp>
      <p:sp>
        <p:nvSpPr>
          <p:cNvPr id="28" name="Text 22"/>
          <p:cNvSpPr txBox="1"/>
          <p:nvPr/>
        </p:nvSpPr>
        <p:spPr>
          <a:xfrm>
            <a:off x="8549640" y="2962656"/>
            <a:ext cx="2926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sistema calcula el punto medio entre ambos y recomienda canchas cercanas para reservar.</a:t>
            </a:r>
            <a:endParaRPr lang="en-US" sz="1300" dirty="0"/>
          </a:p>
        </p:txBody>
      </p:sp>
      <p:sp>
        <p:nvSpPr>
          <p:cNvPr id="29" name="Shape 23"/>
          <p:cNvSpPr/>
          <p:nvPr/>
        </p:nvSpPr>
        <p:spPr>
          <a:xfrm>
            <a:off x="640080" y="4434840"/>
            <a:ext cx="10908792" cy="1234440"/>
          </a:xfrm>
          <a:prstGeom prst="roundRect">
            <a:avLst>
              <a:gd name="adj" fmla="val 8889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0" name="Text 24"/>
          <p:cNvSpPr txBox="1"/>
          <p:nvPr/>
        </p:nvSpPr>
        <p:spPr>
          <a:xfrm>
            <a:off x="1005840" y="46177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200" dirty="0"/>
          </a:p>
        </p:txBody>
      </p:sp>
      <p:sp>
        <p:nvSpPr>
          <p:cNvPr id="31" name="Text 25"/>
          <p:cNvSpPr txBox="1"/>
          <p:nvPr/>
        </p:nvSpPr>
        <p:spPr>
          <a:xfrm>
            <a:off x="1005840" y="4937760"/>
            <a:ext cx="1014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Facilitar que los jugadores de tenis de Santiago encuentren rival y coordinen dónde jugar, de forma rápida y organizada.</a:t>
            </a:r>
            <a:endParaRPr lang="en-US" sz="17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6C8F6E85-53A7-2925-9C09-9DF56EB0C2B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4937760"/>
            <a:ext cx="3840480" cy="384048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005840" y="5120640"/>
            <a:ext cx="2560320" cy="256032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804672" y="5321808"/>
            <a:ext cx="2157984" cy="2157984"/>
          </a:xfrm>
          <a:prstGeom prst="ellipse">
            <a:avLst/>
          </a:prstGeom>
          <a:solidFill>
            <a:srgbClr val="F5FAEE"/>
          </a:solidFill>
          <a:ln w="12700">
            <a:solidFill>
              <a:srgbClr val="F5FA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y Plan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· 9 sprints de 2 semanas · 18 semanas de trabajo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463040"/>
            <a:ext cx="3566160" cy="4114800"/>
          </a:xfrm>
          <a:prstGeom prst="roundRect">
            <a:avLst>
              <a:gd name="adj" fmla="val 3077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5840" y="1783080"/>
            <a:ext cx="420624" cy="420624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1005840" y="2240280"/>
            <a:ext cx="2926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Metodología Ágil — Scrum</a:t>
            </a:r>
            <a:endParaRPr lang="en-US" sz="1900" dirty="0"/>
          </a:p>
        </p:txBody>
      </p:sp>
      <p:sp>
        <p:nvSpPr>
          <p:cNvPr id="13" name="Text 9"/>
          <p:cNvSpPr txBox="1"/>
          <p:nvPr/>
        </p:nvSpPr>
        <p:spPr>
          <a:xfrm>
            <a:off x="1005840" y="2916315"/>
            <a:ext cx="29260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spcAft>
                <a:spcPts val="1200"/>
              </a:spcAft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Trabajo iterativo e incremental con entrega continua de software funcional, en ciclos cortos que permiten evaluar el avance de forma constante.</a:t>
            </a:r>
            <a:endParaRPr lang="en-US" sz="1300" dirty="0"/>
          </a:p>
          <a:p>
            <a:pPr marL="0" indent="0">
              <a:lnSpc>
                <a:spcPts val="1900"/>
              </a:lnSpc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Factibilidad: solo herramientas gratuitas y de código abierto, base de canchas precargada con información pública y apoyo interno del integrante con más experiencia.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4617720" y="1463040"/>
            <a:ext cx="693115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5" name="Shape 11"/>
          <p:cNvSpPr/>
          <p:nvPr/>
        </p:nvSpPr>
        <p:spPr>
          <a:xfrm>
            <a:off x="4892040" y="1874520"/>
            <a:ext cx="457200" cy="4572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Text 12"/>
          <p:cNvSpPr txBox="1"/>
          <p:nvPr/>
        </p:nvSpPr>
        <p:spPr>
          <a:xfrm>
            <a:off x="4892040" y="18745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17" name="Text 13"/>
          <p:cNvSpPr txBox="1"/>
          <p:nvPr/>
        </p:nvSpPr>
        <p:spPr>
          <a:xfrm>
            <a:off x="5532120" y="164592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 · Sprints 1-2</a:t>
            </a:r>
            <a:r>
              <a:rPr lang="en-US" sz="12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Semanas 1-4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5532120" y="197510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Problemática, objetivos, stack tecnológico, roles y mockups iniciales.</a:t>
            </a:r>
            <a:endParaRPr lang="en-US" sz="1250" dirty="0"/>
          </a:p>
        </p:txBody>
      </p:sp>
      <p:sp>
        <p:nvSpPr>
          <p:cNvPr id="19" name="Text 15"/>
          <p:cNvSpPr txBox="1"/>
          <p:nvPr/>
        </p:nvSpPr>
        <p:spPr>
          <a:xfrm>
            <a:off x="5532120" y="237744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Fase 1 cerrada y presentada.</a:t>
            </a:r>
            <a:endParaRPr lang="en-US" sz="1200" dirty="0"/>
          </a:p>
        </p:txBody>
      </p:sp>
      <p:sp>
        <p:nvSpPr>
          <p:cNvPr id="20" name="Shape 16"/>
          <p:cNvSpPr/>
          <p:nvPr/>
        </p:nvSpPr>
        <p:spPr>
          <a:xfrm>
            <a:off x="4617720" y="2880360"/>
            <a:ext cx="693115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7"/>
          <p:cNvSpPr/>
          <p:nvPr/>
        </p:nvSpPr>
        <p:spPr>
          <a:xfrm>
            <a:off x="4892040" y="3291840"/>
            <a:ext cx="457200" cy="4572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8"/>
          <p:cNvSpPr txBox="1"/>
          <p:nvPr/>
        </p:nvSpPr>
        <p:spPr>
          <a:xfrm>
            <a:off x="4892040" y="3291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23" name="Text 19"/>
          <p:cNvSpPr txBox="1"/>
          <p:nvPr/>
        </p:nvSpPr>
        <p:spPr>
          <a:xfrm>
            <a:off x="5532120" y="306324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 · Sprints 3-8</a:t>
            </a:r>
            <a:r>
              <a:rPr lang="en-US" sz="12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Semanas 5-16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5532120" y="339242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backend (autenticación, matching, canchas y reservas), frontend PWA e integración.</a:t>
            </a:r>
            <a:endParaRPr lang="en-US" sz="1250" dirty="0"/>
          </a:p>
        </p:txBody>
      </p:sp>
      <p:sp>
        <p:nvSpPr>
          <p:cNvPr id="25" name="Text 21"/>
          <p:cNvSpPr txBox="1"/>
          <p:nvPr/>
        </p:nvSpPr>
        <p:spPr>
          <a:xfrm>
            <a:off x="5532120" y="379476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demo funcional de punta a punta.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4617720" y="4297680"/>
            <a:ext cx="6931152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3"/>
          <p:cNvSpPr/>
          <p:nvPr/>
        </p:nvSpPr>
        <p:spPr>
          <a:xfrm>
            <a:off x="4892040" y="4709160"/>
            <a:ext cx="457200" cy="4572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Text 24"/>
          <p:cNvSpPr txBox="1"/>
          <p:nvPr/>
        </p:nvSpPr>
        <p:spPr>
          <a:xfrm>
            <a:off x="4892040" y="4709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29" name="Text 25"/>
          <p:cNvSpPr txBox="1"/>
          <p:nvPr/>
        </p:nvSpPr>
        <p:spPr>
          <a:xfrm>
            <a:off x="5532120" y="4480560"/>
            <a:ext cx="5760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 · Sprint 9</a:t>
            </a:r>
            <a:r>
              <a:rPr lang="en-US" sz="12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Semanas 17-18</a:t>
            </a:r>
            <a:endParaRPr lang="en-US" sz="1500" dirty="0"/>
          </a:p>
        </p:txBody>
      </p:sp>
      <p:sp>
        <p:nvSpPr>
          <p:cNvPr id="30" name="Text 26"/>
          <p:cNvSpPr txBox="1"/>
          <p:nvPr/>
        </p:nvSpPr>
        <p:spPr>
          <a:xfrm>
            <a:off x="5532120" y="4809744"/>
            <a:ext cx="5760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Pulido general, diario de reflexión y ensayo de la presentación.</a:t>
            </a:r>
            <a:endParaRPr lang="en-US" sz="1250" dirty="0"/>
          </a:p>
        </p:txBody>
      </p:sp>
      <p:sp>
        <p:nvSpPr>
          <p:cNvPr id="31" name="Text 27"/>
          <p:cNvSpPr txBox="1"/>
          <p:nvPr/>
        </p:nvSpPr>
        <p:spPr>
          <a:xfrm>
            <a:off x="5532120" y="521208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Hito: proyecto final entregado.</a:t>
            </a:r>
            <a:endParaRPr lang="en-US" sz="120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EFD1E8E1-39FE-9310-C2C8-7CDAD08BF99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E3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389120"/>
            <a:ext cx="4206240" cy="420624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765792" y="4645152"/>
            <a:ext cx="3694176" cy="3694176"/>
          </a:xfrm>
          <a:prstGeom prst="ellipse">
            <a:avLst/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822960" y="5669280"/>
            <a:ext cx="2377440" cy="237744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Roles del equipo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Tres integrantes, tres frentes de trabajo complementarios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1938528" y="1874520"/>
            <a:ext cx="914400" cy="9144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7128" y="210312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Fabián Baeza</a:t>
            </a:r>
            <a:endParaRPr lang="en-US" sz="2000" dirty="0"/>
          </a:p>
        </p:txBody>
      </p:sp>
      <p:sp>
        <p:nvSpPr>
          <p:cNvPr id="14" name="Shape 10"/>
          <p:cNvSpPr/>
          <p:nvPr/>
        </p:nvSpPr>
        <p:spPr>
          <a:xfrm>
            <a:off x="914400" y="3429000"/>
            <a:ext cx="2971800" cy="384048"/>
          </a:xfrm>
          <a:prstGeom prst="roundRect">
            <a:avLst>
              <a:gd name="adj" fmla="val 47619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5" name="Text 11"/>
          <p:cNvSpPr txBox="1"/>
          <p:nvPr/>
        </p:nvSpPr>
        <p:spPr>
          <a:xfrm>
            <a:off x="914400" y="34290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y base de datos · Líder técnico</a:t>
            </a:r>
            <a:endParaRPr lang="en-US" sz="1150" dirty="0"/>
          </a:p>
        </p:txBody>
      </p:sp>
      <p:sp>
        <p:nvSpPr>
          <p:cNvPr id="16" name="Text 12"/>
          <p:cNvSpPr txBox="1"/>
          <p:nvPr/>
        </p:nvSpPr>
        <p:spPr>
          <a:xfrm>
            <a:off x="960120" y="3977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datos, autenticación, módulo de matching, canchas y reservas. Al terminar, apoya la integración final.</a:t>
            </a:r>
            <a:endParaRPr lang="en-US" sz="1300" dirty="0"/>
          </a:p>
        </p:txBody>
      </p:sp>
      <p:sp>
        <p:nvSpPr>
          <p:cNvPr id="17" name="Shape 13"/>
          <p:cNvSpPr/>
          <p:nvPr/>
        </p:nvSpPr>
        <p:spPr>
          <a:xfrm>
            <a:off x="443484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5733288" y="1874520"/>
            <a:ext cx="914400" cy="9144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1888" y="2103120"/>
            <a:ext cx="457200" cy="4572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70916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Felipe Sandoval</a:t>
            </a:r>
            <a:endParaRPr lang="en-US" sz="2000" dirty="0"/>
          </a:p>
        </p:txBody>
      </p:sp>
      <p:sp>
        <p:nvSpPr>
          <p:cNvPr id="21" name="Shape 16"/>
          <p:cNvSpPr/>
          <p:nvPr/>
        </p:nvSpPr>
        <p:spPr>
          <a:xfrm>
            <a:off x="4709160" y="3429000"/>
            <a:ext cx="2971800" cy="384048"/>
          </a:xfrm>
          <a:prstGeom prst="roundRect">
            <a:avLst>
              <a:gd name="adj" fmla="val 47619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Text 17"/>
          <p:cNvSpPr txBox="1"/>
          <p:nvPr/>
        </p:nvSpPr>
        <p:spPr>
          <a:xfrm>
            <a:off x="4709160" y="34290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Documentación y evidencias</a:t>
            </a:r>
            <a:endParaRPr lang="en-US" sz="1150" dirty="0"/>
          </a:p>
        </p:txBody>
      </p:sp>
      <p:sp>
        <p:nvSpPr>
          <p:cNvPr id="23" name="Text 18"/>
          <p:cNvSpPr txBox="1"/>
          <p:nvPr/>
        </p:nvSpPr>
        <p:spPr>
          <a:xfrm>
            <a:off x="4754880" y="3977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Informes de cada fase, diario de reflexión del equipo y organización de las carpetas de evidencias en GitHub.</a:t>
            </a:r>
            <a:endParaRPr lang="en-US" sz="1300" dirty="0"/>
          </a:p>
        </p:txBody>
      </p:sp>
      <p:sp>
        <p:nvSpPr>
          <p:cNvPr id="24" name="Shape 19"/>
          <p:cNvSpPr/>
          <p:nvPr/>
        </p:nvSpPr>
        <p:spPr>
          <a:xfrm>
            <a:off x="8229600" y="1554480"/>
            <a:ext cx="3520440" cy="3840480"/>
          </a:xfrm>
          <a:prstGeom prst="roundRect">
            <a:avLst>
              <a:gd name="adj" fmla="val 3117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2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9528048" y="1874520"/>
            <a:ext cx="914400" cy="9144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756648" y="2103120"/>
            <a:ext cx="457200" cy="45720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503920" y="2971800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Sebastián Toledo</a:t>
            </a:r>
            <a:endParaRPr lang="en-US" sz="2000" dirty="0"/>
          </a:p>
        </p:txBody>
      </p:sp>
      <p:sp>
        <p:nvSpPr>
          <p:cNvPr id="28" name="Shape 22"/>
          <p:cNvSpPr/>
          <p:nvPr/>
        </p:nvSpPr>
        <p:spPr>
          <a:xfrm>
            <a:off x="8503920" y="3429000"/>
            <a:ext cx="2971800" cy="384048"/>
          </a:xfrm>
          <a:prstGeom prst="roundRect">
            <a:avLst>
              <a:gd name="adj" fmla="val 47619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9" name="Text 23"/>
          <p:cNvSpPr txBox="1"/>
          <p:nvPr/>
        </p:nvSpPr>
        <p:spPr>
          <a:xfrm>
            <a:off x="8503920" y="34290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· Interfaz PWA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8549640" y="3977640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3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 las 6 pantallas del flujo principal y conexión con la API entregada por el backend.</a:t>
            </a:r>
            <a:endParaRPr lang="en-US" sz="1300" dirty="0"/>
          </a:p>
        </p:txBody>
      </p:sp>
      <p:pic>
        <p:nvPicPr>
          <p:cNvPr id="32" name="Imagen 31">
            <a:extLst>
              <a:ext uri="{FF2B5EF4-FFF2-40B4-BE49-F238E27FC236}">
                <a16:creationId xmlns:a16="http://schemas.microsoft.com/office/drawing/2014/main" id="{967D7525-D77A-D712-4B08-D07F01F9C8A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108960" cy="310896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188720" y="4480560"/>
            <a:ext cx="3291840" cy="329184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950976" y="4718304"/>
            <a:ext cx="2816352" cy="2816352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Mapa Tecnológico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en 3 capas: cliente, API de negocio y base de datos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08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914400" y="1874520"/>
            <a:ext cx="603504" cy="60350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20208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914400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200" dirty="0"/>
          </a:p>
        </p:txBody>
      </p:sp>
      <p:sp>
        <p:nvSpPr>
          <p:cNvPr id="14" name="Text 10"/>
          <p:cNvSpPr txBox="1"/>
          <p:nvPr/>
        </p:nvSpPr>
        <p:spPr>
          <a:xfrm>
            <a:off x="9144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HTML · CSS · JavaScript</a:t>
            </a:r>
            <a:endParaRPr lang="en-US" sz="1700" dirty="0"/>
          </a:p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Progressive Web App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usa desde cualquier navegador y se instala en el celular como una app, sin la complejidad de una app nativa.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069080" y="2971800"/>
            <a:ext cx="384048" cy="365760"/>
          </a:xfrm>
          <a:prstGeom prst="rightArrow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452628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8" name="Shape 14"/>
          <p:cNvSpPr/>
          <p:nvPr/>
        </p:nvSpPr>
        <p:spPr>
          <a:xfrm>
            <a:off x="4800600" y="1874520"/>
            <a:ext cx="603504" cy="60350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6904" y="202082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4800600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48006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Node.js + Express</a:t>
            </a:r>
            <a:endParaRPr lang="en-US" sz="1700" dirty="0"/>
          </a:p>
        </p:txBody>
      </p:sp>
      <p:sp>
        <p:nvSpPr>
          <p:cNvPr id="22" name="Text 17"/>
          <p:cNvSpPr txBox="1"/>
          <p:nvPr/>
        </p:nvSpPr>
        <p:spPr>
          <a:xfrm>
            <a:off x="4800600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Mismo lenguaje que el frontend: todo el equipo puede trabajar en cualquier parte del sistema sin aprender otro lenguaje.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7955280" y="2971800"/>
            <a:ext cx="384048" cy="365760"/>
          </a:xfrm>
          <a:prstGeom prst="rightArrow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4" name="Shape 19"/>
          <p:cNvSpPr/>
          <p:nvPr/>
        </p:nvSpPr>
        <p:spPr>
          <a:xfrm>
            <a:off x="8412480" y="1600200"/>
            <a:ext cx="3291840" cy="3200400"/>
          </a:xfrm>
          <a:prstGeom prst="roundRect">
            <a:avLst>
              <a:gd name="adj" fmla="val 3429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5" name="Shape 20"/>
          <p:cNvSpPr/>
          <p:nvPr/>
        </p:nvSpPr>
        <p:spPr>
          <a:xfrm>
            <a:off x="8686800" y="1874520"/>
            <a:ext cx="603504" cy="603504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833104" y="2020824"/>
            <a:ext cx="310896" cy="310896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8686800" y="2606040"/>
            <a:ext cx="27432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200" dirty="0"/>
          </a:p>
        </p:txBody>
      </p:sp>
      <p:sp>
        <p:nvSpPr>
          <p:cNvPr id="28" name="Text 22"/>
          <p:cNvSpPr txBox="1"/>
          <p:nvPr/>
        </p:nvSpPr>
        <p:spPr>
          <a:xfrm>
            <a:off x="8686800" y="2926080"/>
            <a:ext cx="2743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7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MySQL</a:t>
            </a:r>
            <a:endParaRPr lang="en-US" sz="1700" dirty="0"/>
          </a:p>
        </p:txBody>
      </p:sp>
      <p:sp>
        <p:nvSpPr>
          <p:cNvPr id="29" name="Text 23"/>
          <p:cNvSpPr txBox="1"/>
          <p:nvPr/>
        </p:nvSpPr>
        <p:spPr>
          <a:xfrm>
            <a:off x="8686800" y="3611880"/>
            <a:ext cx="27432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Relacional, robusta y muy documentada: ideal para modelar usuarios, perfiles, canchas, matches y reservas.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640080" y="5074920"/>
            <a:ext cx="10908792" cy="777240"/>
          </a:xfrm>
          <a:prstGeom prst="roundRect">
            <a:avLst>
              <a:gd name="adj" fmla="val 14118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1" name="Text 25"/>
          <p:cNvSpPr txBox="1"/>
          <p:nvPr/>
        </p:nvSpPr>
        <p:spPr>
          <a:xfrm>
            <a:off x="960120" y="5074920"/>
            <a:ext cx="10241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cliente se comunica por HTTP con la API, que concentra la lógica de negocio en módulos (autenticación, matching, canchas y reservas) sobre una única base de datos relacional.</a:t>
            </a:r>
            <a:endParaRPr lang="en-US" sz="1350" dirty="0"/>
          </a:p>
        </p:txBody>
      </p:sp>
      <p:pic>
        <p:nvPicPr>
          <p:cNvPr id="33" name="Imagen 32">
            <a:extLst>
              <a:ext uri="{FF2B5EF4-FFF2-40B4-BE49-F238E27FC236}">
                <a16:creationId xmlns:a16="http://schemas.microsoft.com/office/drawing/2014/main" id="{C42D7C74-D530-D44F-E37E-F73D9AEF488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424160" y="-1280160"/>
            <a:ext cx="3108960" cy="310896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-1188720" y="4480560"/>
            <a:ext cx="3291840" cy="329184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950976" y="4718304"/>
            <a:ext cx="2816352" cy="2816352"/>
          </a:xfrm>
          <a:prstGeom prst="ellipse">
            <a:avLst/>
          </a:prstGeom>
          <a:solidFill>
            <a:srgbClr val="F5FAEE"/>
          </a:solidFill>
          <a:ln w="12700">
            <a:solidFill>
              <a:srgbClr val="F5FA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Competencias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Competencias del perfil de egreso que el proyecto evidencia de forma directa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09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Shape 7"/>
          <p:cNvSpPr/>
          <p:nvPr/>
        </p:nvSpPr>
        <p:spPr>
          <a:xfrm>
            <a:off x="640080" y="155448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960120" y="1874520"/>
            <a:ext cx="603504" cy="60350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6424" y="2020824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737360" y="1847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y Desarrollo de Software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1737360" y="24871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full-stack: interfaz de usuario y lógica de servidor, cubriendo todo el ciclo de desarrollo.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6263640" y="155448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583680" y="1874520"/>
            <a:ext cx="603504" cy="60350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29984" y="2020824"/>
            <a:ext cx="310896" cy="310896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7360920" y="184708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Información y Bases de Datos</a:t>
            </a:r>
            <a:endParaRPr lang="en-US" sz="1600" dirty="0"/>
          </a:p>
        </p:txBody>
      </p:sp>
      <p:sp>
        <p:nvSpPr>
          <p:cNvPr id="19" name="Text 14"/>
          <p:cNvSpPr txBox="1"/>
          <p:nvPr/>
        </p:nvSpPr>
        <p:spPr>
          <a:xfrm>
            <a:off x="7360920" y="248716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Diseño del modelo relacional (diagrama ER) e implementación en MySQL con datos interconectados.</a:t>
            </a:r>
            <a:endParaRPr lang="en-US" sz="1300" dirty="0"/>
          </a:p>
        </p:txBody>
      </p:sp>
      <p:sp>
        <p:nvSpPr>
          <p:cNvPr id="20" name="Shape 15"/>
          <p:cNvSpPr/>
          <p:nvPr/>
        </p:nvSpPr>
        <p:spPr>
          <a:xfrm>
            <a:off x="640080" y="370332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1" name="Shape 16"/>
          <p:cNvSpPr/>
          <p:nvPr/>
        </p:nvSpPr>
        <p:spPr>
          <a:xfrm>
            <a:off x="960120" y="4023360"/>
            <a:ext cx="603504" cy="60350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06424" y="4169664"/>
            <a:ext cx="310896" cy="310896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737360" y="3995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y Gestión de Requisitos TI</a:t>
            </a:r>
            <a:endParaRPr lang="en-US" sz="1600" dirty="0"/>
          </a:p>
        </p:txBody>
      </p:sp>
      <p:sp>
        <p:nvSpPr>
          <p:cNvPr id="24" name="Text 18"/>
          <p:cNvSpPr txBox="1"/>
          <p:nvPr/>
        </p:nvSpPr>
        <p:spPr>
          <a:xfrm>
            <a:off x="1737360" y="46360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Traducir una problemática real en requerimientos claros y acotarlos a un MVP bien definido.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263640" y="3703320"/>
            <a:ext cx="5285232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6" name="Shape 20"/>
          <p:cNvSpPr/>
          <p:nvPr/>
        </p:nvSpPr>
        <p:spPr>
          <a:xfrm>
            <a:off x="6583680" y="4023360"/>
            <a:ext cx="603504" cy="60350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9984" y="4169664"/>
            <a:ext cx="310896" cy="310896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7360920" y="3995928"/>
            <a:ext cx="393192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Evaluación y Gestión de Proyectos TI</a:t>
            </a:r>
            <a:endParaRPr lang="en-US" sz="1600" dirty="0"/>
          </a:p>
        </p:txBody>
      </p:sp>
      <p:sp>
        <p:nvSpPr>
          <p:cNvPr id="29" name="Text 22"/>
          <p:cNvSpPr txBox="1"/>
          <p:nvPr/>
        </p:nvSpPr>
        <p:spPr>
          <a:xfrm>
            <a:off x="7360920" y="4636008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Planificación en Scrum a 18 semanas, evaluación de factibilidad y mitigación de riesgos.</a:t>
            </a:r>
            <a:endParaRPr lang="en-US" sz="130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1B332DAB-C0C9-3735-6352-AB9769FC0A8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509760" y="4389120"/>
            <a:ext cx="4206240" cy="420624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9765792" y="4645152"/>
            <a:ext cx="3694176" cy="369417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-822960" y="5669280"/>
            <a:ext cx="2377440" cy="237744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Riesgos</a:t>
            </a:r>
            <a:endParaRPr lang="en-US" sz="3400" dirty="0"/>
          </a:p>
        </p:txBody>
      </p:sp>
      <p:sp>
        <p:nvSpPr>
          <p:cNvPr id="7" name="Text 4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Obstaculizadores identificados y su estrategia de mitigación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" name="Text 7"/>
          <p:cNvSpPr txBox="1"/>
          <p:nvPr/>
        </p:nvSpPr>
        <p:spPr>
          <a:xfrm>
            <a:off x="96012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RIESGO</a:t>
            </a:r>
            <a:endParaRPr lang="en-US" sz="11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13716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MITIGACIÓN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40080" y="1719072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2157984"/>
            <a:ext cx="310896" cy="310896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444752" y="171907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s-MX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Dificultades en la integración entre </a:t>
            </a:r>
            <a:r>
              <a:rPr lang="es-MX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r>
              <a:rPr lang="es-MX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s-MX" sz="14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r>
              <a:rPr lang="es-MX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y base de datos.</a:t>
            </a:r>
            <a:endParaRPr lang="en-US" sz="1400" dirty="0"/>
          </a:p>
        </p:txBody>
      </p:sp>
      <p:sp>
        <p:nvSpPr>
          <p:cNvPr id="15" name="Shape 11"/>
          <p:cNvSpPr/>
          <p:nvPr/>
        </p:nvSpPr>
        <p:spPr>
          <a:xfrm>
            <a:off x="5989320" y="2176272"/>
            <a:ext cx="292608" cy="274320"/>
          </a:xfrm>
          <a:prstGeom prst="rightArrow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6" name="Shape 12"/>
          <p:cNvSpPr/>
          <p:nvPr/>
        </p:nvSpPr>
        <p:spPr>
          <a:xfrm>
            <a:off x="6382512" y="1719072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Text 13"/>
          <p:cNvSpPr txBox="1"/>
          <p:nvPr/>
        </p:nvSpPr>
        <p:spPr>
          <a:xfrm>
            <a:off x="6675120" y="171907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s-MX" sz="135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Definir desde temprano las rutas de la API, formatos de respuesta y realizar integraciones parciales durante cada sprint.</a:t>
            </a:r>
            <a:endParaRPr lang="en-US" sz="1350" dirty="0"/>
          </a:p>
        </p:txBody>
      </p:sp>
      <p:sp>
        <p:nvSpPr>
          <p:cNvPr id="18" name="Shape 14"/>
          <p:cNvSpPr/>
          <p:nvPr/>
        </p:nvSpPr>
        <p:spPr>
          <a:xfrm>
            <a:off x="640080" y="3090672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529584"/>
            <a:ext cx="310896" cy="310896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1444752" y="309067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acceso a datos reales de canchas ni acuerdos con clubes.</a:t>
            </a:r>
            <a:endParaRPr lang="en-US" sz="1400" dirty="0"/>
          </a:p>
        </p:txBody>
      </p:sp>
      <p:sp>
        <p:nvSpPr>
          <p:cNvPr id="21" name="Shape 16"/>
          <p:cNvSpPr/>
          <p:nvPr/>
        </p:nvSpPr>
        <p:spPr>
          <a:xfrm>
            <a:off x="5989320" y="3547872"/>
            <a:ext cx="292608" cy="274320"/>
          </a:xfrm>
          <a:prstGeom prst="rightArrow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6382512" y="3090672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3" name="Text 18"/>
          <p:cNvSpPr txBox="1"/>
          <p:nvPr/>
        </p:nvSpPr>
        <p:spPr>
          <a:xfrm>
            <a:off x="6675120" y="309067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Precarga manual de una base de datos propia con información pública, sin depender de integraciones externas.</a:t>
            </a:r>
            <a:endParaRPr lang="en-US" sz="1350" dirty="0"/>
          </a:p>
        </p:txBody>
      </p:sp>
      <p:sp>
        <p:nvSpPr>
          <p:cNvPr id="24" name="Shape 19"/>
          <p:cNvSpPr/>
          <p:nvPr/>
        </p:nvSpPr>
        <p:spPr>
          <a:xfrm>
            <a:off x="640080" y="4462272"/>
            <a:ext cx="5257800" cy="1188720"/>
          </a:xfrm>
          <a:prstGeom prst="roundRect">
            <a:avLst>
              <a:gd name="adj" fmla="val 9231"/>
            </a:avLst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pic>
        <p:nvPicPr>
          <p:cNvPr id="25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4901184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444752" y="4462272"/>
            <a:ext cx="42519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s-MX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Poca adopción inicial o falta de usuarios para realizar pruebas reales.</a:t>
            </a:r>
            <a:endParaRPr lang="en-US" sz="1400" dirty="0"/>
          </a:p>
        </p:txBody>
      </p:sp>
      <p:sp>
        <p:nvSpPr>
          <p:cNvPr id="27" name="Shape 21"/>
          <p:cNvSpPr/>
          <p:nvPr/>
        </p:nvSpPr>
        <p:spPr>
          <a:xfrm>
            <a:off x="5989320" y="4919472"/>
            <a:ext cx="292608" cy="274320"/>
          </a:xfrm>
          <a:prstGeom prst="rightArrow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28" name="Shape 22"/>
          <p:cNvSpPr/>
          <p:nvPr/>
        </p:nvSpPr>
        <p:spPr>
          <a:xfrm>
            <a:off x="6382512" y="4462272"/>
            <a:ext cx="5166360" cy="1188720"/>
          </a:xfrm>
          <a:prstGeom prst="roundRect">
            <a:avLst>
              <a:gd name="adj" fmla="val 9231"/>
            </a:avLst>
          </a:prstGeom>
          <a:solidFill>
            <a:srgbClr val="F1F7EC"/>
          </a:solidFill>
          <a:ln w="12700">
            <a:solidFill>
              <a:srgbClr val="F1F7EC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9" name="Text 23"/>
          <p:cNvSpPr txBox="1"/>
          <p:nvPr/>
        </p:nvSpPr>
        <p:spPr>
          <a:xfrm>
            <a:off x="6675120" y="4462272"/>
            <a:ext cx="46177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s-MX" sz="1350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Realizar pruebas con un grupo reducido de conocidos o jugadores de tenis y utilizar datos de prueba para validar el sistema.</a:t>
            </a:r>
            <a:endParaRPr lang="en-US" sz="1350" dirty="0"/>
          </a:p>
        </p:txBody>
      </p:sp>
      <p:sp>
        <p:nvSpPr>
          <p:cNvPr id="300" name="Shape 300"/>
          <p:cNvSpPr/>
          <p:nvPr/>
        </p:nvSpPr>
        <p:spPr>
          <a:xfrm>
            <a:off x="640080" y="5780000"/>
            <a:ext cx="10911840" cy="720000"/>
          </a:xfrm>
          <a:prstGeom prst="roundRect">
            <a:avLst>
              <a:gd name="adj" fmla="val 12000"/>
            </a:avLst>
          </a:prstGeom>
          <a:solidFill>
            <a:srgbClr val="F1F8E4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301" name="Text 301"/>
          <p:cNvSpPr txBox="1"/>
          <p:nvPr/>
        </p:nvSpPr>
        <p:spPr>
          <a:xfrm>
            <a:off x="940080" y="5870000"/>
            <a:ext cx="500592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</a:rPr>
              <a:t>RECURSOS: </a:t>
            </a:r>
            <a:r>
              <a:rPr lang="en-US" sz="1050" dirty="0">
                <a:solidFill>
                  <a:srgbClr val="0E3B23"/>
                </a:solidFill>
                <a:latin typeface="Calibri" pitchFamily="34" charset="0"/>
              </a:rPr>
              <a:t>herramientas gratuitas (Node.js, MySQL, GitHub) y tiempo semanal del equipo.</a:t>
            </a:r>
            <a:endParaRPr lang="en-US" sz="1050" dirty="0"/>
          </a:p>
        </p:txBody>
      </p:sp>
      <p:sp>
        <p:nvSpPr>
          <p:cNvPr id="302" name="Text 302"/>
          <p:cNvSpPr txBox="1"/>
          <p:nvPr/>
        </p:nvSpPr>
        <p:spPr>
          <a:xfrm>
            <a:off x="6246000" y="5870000"/>
            <a:ext cx="5005920" cy="54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spcAft>
                <a:spcPts val="600"/>
              </a:spcAft>
              <a:buNone/>
            </a:pPr>
            <a:r>
              <a:rPr lang="en-US" sz="1050" b="1" dirty="0">
                <a:solidFill>
                  <a:srgbClr val="1B5E3A"/>
                </a:solidFill>
                <a:latin typeface="Calibri" pitchFamily="34" charset="0"/>
              </a:rPr>
              <a:t>FACILITADORES: </a:t>
            </a:r>
            <a:r>
              <a:rPr lang="en-US" sz="1050" dirty="0" err="1">
                <a:solidFill>
                  <a:srgbClr val="0E3B23"/>
                </a:solidFill>
                <a:latin typeface="Calibri" pitchFamily="34" charset="0"/>
              </a:rPr>
              <a:t>buena</a:t>
            </a:r>
            <a:r>
              <a:rPr lang="en-US" sz="1050" dirty="0">
                <a:solidFill>
                  <a:srgbClr val="0E3B23"/>
                </a:solidFill>
                <a:latin typeface="Calibri" pitchFamily="34" charset="0"/>
              </a:rPr>
              <a:t> comunicación y roles bien definidos.</a:t>
            </a:r>
            <a:endParaRPr lang="en-US" sz="1050" dirty="0"/>
          </a:p>
        </p:txBody>
      </p:sp>
      <p:pic>
        <p:nvPicPr>
          <p:cNvPr id="31" name="Imagen 30">
            <a:extLst>
              <a:ext uri="{FF2B5EF4-FFF2-40B4-BE49-F238E27FC236}">
                <a16:creationId xmlns:a16="http://schemas.microsoft.com/office/drawing/2014/main" id="{B615224D-89F5-497D-234E-BF4910E7B09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206240"/>
            <a:ext cx="4023360" cy="402336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26496" y="4974336"/>
            <a:ext cx="2304288" cy="2304288"/>
          </a:xfrm>
          <a:prstGeom prst="ellipse">
            <a:avLst/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38560" y="1737360"/>
            <a:ext cx="822960" cy="82296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38404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15568" y="274320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Seguridad</a:t>
            </a:r>
            <a:endParaRPr lang="en-US" sz="3400" dirty="0"/>
          </a:p>
        </p:txBody>
      </p:sp>
      <p:sp>
        <p:nvSpPr>
          <p:cNvPr id="8" name="Text 5"/>
          <p:cNvSpPr txBox="1"/>
          <p:nvPr/>
        </p:nvSpPr>
        <p:spPr>
          <a:xfrm>
            <a:off x="1115568" y="859536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DD5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MeetTennis maneja datos sensibles: ubicación geográfica y contacto de los usuarios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11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" name="Shape 8"/>
          <p:cNvSpPr/>
          <p:nvPr/>
        </p:nvSpPr>
        <p:spPr>
          <a:xfrm>
            <a:off x="64008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932688" y="187452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" y="2011680"/>
            <a:ext cx="274320" cy="27432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160020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Autenticación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932688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Contraseñas con hash seguro (bcrypt), nunca en texto plano, y acceso protegido con tokens de sesión (JWT).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443484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17" name="Shape 13"/>
          <p:cNvSpPr/>
          <p:nvPr/>
        </p:nvSpPr>
        <p:spPr>
          <a:xfrm>
            <a:off x="4727448" y="187452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608" y="2011680"/>
            <a:ext cx="274320" cy="274320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539496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de datos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4727448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Todas las consultas se realizan de forma parametrizada, evitando vulnerabilidades de inyección SQL.</a:t>
            </a:r>
            <a:endParaRPr lang="en-US" sz="1250" dirty="0"/>
          </a:p>
        </p:txBody>
      </p:sp>
      <p:sp>
        <p:nvSpPr>
          <p:cNvPr id="21" name="Shape 16"/>
          <p:cNvSpPr/>
          <p:nvPr/>
        </p:nvSpPr>
        <p:spPr>
          <a:xfrm>
            <a:off x="8229600" y="1600200"/>
            <a:ext cx="3520440" cy="1965960"/>
          </a:xfrm>
          <a:prstGeom prst="roundRect">
            <a:avLst>
              <a:gd name="adj" fmla="val 5581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2" name="Shape 17"/>
          <p:cNvSpPr/>
          <p:nvPr/>
        </p:nvSpPr>
        <p:spPr>
          <a:xfrm>
            <a:off x="8522208" y="1874520"/>
            <a:ext cx="548640" cy="54864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59368" y="2011680"/>
            <a:ext cx="274320" cy="27432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9189720" y="19202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Privacidad de ubicación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8522208" y="2560320"/>
            <a:ext cx="2926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Nunca se muestra la ubicación exacta: solo la distancia aproximada hasta que ambos confirman el match.</a:t>
            </a:r>
            <a:endParaRPr lang="en-US" sz="1250" dirty="0"/>
          </a:p>
        </p:txBody>
      </p:sp>
      <p:sp>
        <p:nvSpPr>
          <p:cNvPr id="26" name="Shape 20"/>
          <p:cNvSpPr/>
          <p:nvPr/>
        </p:nvSpPr>
        <p:spPr>
          <a:xfrm>
            <a:off x="640080" y="379476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27" name="Shape 21"/>
          <p:cNvSpPr/>
          <p:nvPr/>
        </p:nvSpPr>
        <p:spPr>
          <a:xfrm>
            <a:off x="932688" y="4069080"/>
            <a:ext cx="548640" cy="548640"/>
          </a:xfrm>
          <a:prstGeom prst="ellipse">
            <a:avLst/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2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9848" y="4206240"/>
            <a:ext cx="274320" cy="274320"/>
          </a:xfrm>
          <a:prstGeom prst="rect">
            <a:avLst/>
          </a:prstGeom>
        </p:spPr>
      </p:pic>
      <p:sp>
        <p:nvSpPr>
          <p:cNvPr id="29" name="Text 22"/>
          <p:cNvSpPr txBox="1"/>
          <p:nvPr/>
        </p:nvSpPr>
        <p:spPr>
          <a:xfrm>
            <a:off x="160020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Cifrado de la comunicación</a:t>
            </a:r>
            <a:endParaRPr lang="en-US" sz="1600" dirty="0"/>
          </a:p>
        </p:txBody>
      </p:sp>
      <p:sp>
        <p:nvSpPr>
          <p:cNvPr id="30" name="Text 23"/>
          <p:cNvSpPr txBox="1"/>
          <p:nvPr/>
        </p:nvSpPr>
        <p:spPr>
          <a:xfrm>
            <a:off x="932688" y="4754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la comunicación entre la PWA y el servidor viaja por HTTPS, protegiendo los datos en tránsito.</a:t>
            </a:r>
            <a:endParaRPr lang="en-US" sz="1250" dirty="0"/>
          </a:p>
        </p:txBody>
      </p:sp>
      <p:sp>
        <p:nvSpPr>
          <p:cNvPr id="31" name="Shape 24"/>
          <p:cNvSpPr/>
          <p:nvPr/>
        </p:nvSpPr>
        <p:spPr>
          <a:xfrm>
            <a:off x="6263640" y="3794760"/>
            <a:ext cx="5285232" cy="1783080"/>
          </a:xfrm>
          <a:prstGeom prst="roundRect">
            <a:avLst>
              <a:gd name="adj" fmla="val 6154"/>
            </a:avLst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  <a:effectLst>
            <a:outerShdw blurRad="127000" dist="25400" dir="5400000" algn="bl" rotWithShape="0">
              <a:srgbClr val="1B5E3A">
                <a:alpha val="10000"/>
              </a:srgbClr>
            </a:outerShdw>
          </a:effectLst>
        </p:spPr>
        <p:txBody>
          <a:bodyPr/>
          <a:lstStyle/>
          <a:p>
            <a:endParaRPr lang="es-ES"/>
          </a:p>
        </p:txBody>
      </p:sp>
      <p:sp>
        <p:nvSpPr>
          <p:cNvPr id="32" name="Shape 25"/>
          <p:cNvSpPr/>
          <p:nvPr/>
        </p:nvSpPr>
        <p:spPr>
          <a:xfrm>
            <a:off x="6556248" y="4069080"/>
            <a:ext cx="548640" cy="548640"/>
          </a:xfrm>
          <a:prstGeom prst="ellipse">
            <a:avLst/>
          </a:prstGeom>
          <a:solidFill>
            <a:srgbClr val="0E3B23"/>
          </a:solidFill>
          <a:ln w="12700">
            <a:solidFill>
              <a:srgbClr val="0E3B23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3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693408" y="4206240"/>
            <a:ext cx="274320" cy="274320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7223760" y="411480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E3B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Cumplimiento normativo</a:t>
            </a:r>
            <a:endParaRPr lang="en-US" sz="1600" dirty="0"/>
          </a:p>
        </p:txBody>
      </p:sp>
      <p:sp>
        <p:nvSpPr>
          <p:cNvPr id="35" name="Text 27"/>
          <p:cNvSpPr txBox="1"/>
          <p:nvPr/>
        </p:nvSpPr>
        <p:spPr>
          <a:xfrm>
            <a:off x="6556248" y="4754880"/>
            <a:ext cx="4709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1B5E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Tratamiento de datos ajustado a la Ley N° 19.628 sobre Protección de la Vida Privada, informando qué se recolecta y con qué fin.</a:t>
            </a:r>
            <a:endParaRPr lang="en-US" sz="1250" dirty="0"/>
          </a:p>
        </p:txBody>
      </p:sp>
      <p:pic>
        <p:nvPicPr>
          <p:cNvPr id="37" name="Imagen 36">
            <a:extLst>
              <a:ext uri="{FF2B5EF4-FFF2-40B4-BE49-F238E27FC236}">
                <a16:creationId xmlns:a16="http://schemas.microsoft.com/office/drawing/2014/main" id="{525BC873-0A86-4390-12D4-BFF293F960D6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AE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554480" y="4343400"/>
            <a:ext cx="3862674" cy="3886199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0607040" y="4754880"/>
            <a:ext cx="2743200" cy="274320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4" name="Shape 2"/>
          <p:cNvSpPr/>
          <p:nvPr/>
        </p:nvSpPr>
        <p:spPr>
          <a:xfrm>
            <a:off x="10826496" y="4974336"/>
            <a:ext cx="2304288" cy="2304288"/>
          </a:xfrm>
          <a:prstGeom prst="ellipse">
            <a:avLst/>
          </a:prstGeom>
          <a:solidFill>
            <a:srgbClr val="F5FAEE"/>
          </a:solidFill>
          <a:ln w="12700">
            <a:solidFill>
              <a:srgbClr val="F5FAEE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5" name="Shape 3"/>
          <p:cNvSpPr/>
          <p:nvPr/>
        </p:nvSpPr>
        <p:spPr>
          <a:xfrm>
            <a:off x="11338560" y="1737360"/>
            <a:ext cx="822960" cy="822960"/>
          </a:xfrm>
          <a:prstGeom prst="ellipse">
            <a:avLst/>
          </a:prstGeom>
          <a:solidFill>
            <a:srgbClr val="E9F3D9"/>
          </a:solidFill>
          <a:ln w="12700">
            <a:solidFill>
              <a:srgbClr val="E9F3D9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867" y="292608"/>
            <a:ext cx="329184" cy="329184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437207" y="173736"/>
            <a:ext cx="382929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12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88720" y="2148840"/>
            <a:ext cx="365760" cy="365760"/>
          </a:xfrm>
          <a:prstGeom prst="rect">
            <a:avLst/>
          </a:prstGeom>
        </p:spPr>
      </p:pic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12280" y="2148840"/>
            <a:ext cx="365760" cy="365760"/>
          </a:xfrm>
          <a:prstGeom prst="rect">
            <a:avLst/>
          </a:prstGeom>
        </p:spPr>
      </p:pic>
      <p:pic>
        <p:nvPicPr>
          <p:cNvPr id="27" name="Imagen 26">
            <a:extLst>
              <a:ext uri="{FF2B5EF4-FFF2-40B4-BE49-F238E27FC236}">
                <a16:creationId xmlns:a16="http://schemas.microsoft.com/office/drawing/2014/main" id="{C59D2E22-E778-174E-C1EE-1CB963C03F0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09014" y="770004"/>
            <a:ext cx="7885680" cy="5914260"/>
          </a:xfrm>
          <a:prstGeom prst="rect">
            <a:avLst/>
          </a:prstGeom>
        </p:spPr>
      </p:pic>
      <p:pic>
        <p:nvPicPr>
          <p:cNvPr id="29" name="Imagen 28">
            <a:extLst>
              <a:ext uri="{FF2B5EF4-FFF2-40B4-BE49-F238E27FC236}">
                <a16:creationId xmlns:a16="http://schemas.microsoft.com/office/drawing/2014/main" id="{C729FE72-5D71-5D38-68B5-07B7F68CB6DA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881360" y="5394960"/>
            <a:ext cx="2926080" cy="2926080"/>
          </a:xfrm>
          <a:prstGeom prst="ellipse">
            <a:avLst/>
          </a:prstGeom>
          <a:solidFill>
            <a:srgbClr val="F1F8E4"/>
          </a:solidFill>
          <a:ln w="12700">
            <a:solidFill>
              <a:srgbClr val="F1F8E4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3" name="Shape 1"/>
          <p:cNvSpPr/>
          <p:nvPr/>
        </p:nvSpPr>
        <p:spPr>
          <a:xfrm>
            <a:off x="11100816" y="5614416"/>
            <a:ext cx="2487168" cy="248716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292608"/>
            <a:ext cx="329184" cy="32918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1115568" y="171028"/>
            <a:ext cx="9601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Mockup</a:t>
            </a:r>
            <a:endParaRPr lang="en-US" sz="3400" dirty="0"/>
          </a:p>
        </p:txBody>
      </p:sp>
      <p:sp>
        <p:nvSpPr>
          <p:cNvPr id="6" name="Text 3"/>
          <p:cNvSpPr txBox="1"/>
          <p:nvPr/>
        </p:nvSpPr>
        <p:spPr>
          <a:xfrm>
            <a:off x="1138223" y="710524"/>
            <a:ext cx="10058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4F5B5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pantallas núcleo del flujo MVP: registro, perfil, buscar rival, match, cancha sugerida y reserva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10774375" y="3840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1B5E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11624767" y="457200"/>
            <a:ext cx="182880" cy="18288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1" name="Text 101"/>
          <p:cNvSpPr txBox="1"/>
          <p:nvPr/>
        </p:nvSpPr>
        <p:spPr>
          <a:xfrm>
            <a:off x="640080" y="1087251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Registro / Login</a:t>
            </a:r>
            <a:endParaRPr lang="en-US" sz="1150" dirty="0"/>
          </a:p>
        </p:txBody>
      </p:sp>
      <p:sp>
        <p:nvSpPr>
          <p:cNvPr id="102" name="Shape 102"/>
          <p:cNvSpPr/>
          <p:nvPr/>
        </p:nvSpPr>
        <p:spPr>
          <a:xfrm>
            <a:off x="1301315" y="1347896"/>
            <a:ext cx="2141728" cy="2550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3" name="Shape 103"/>
          <p:cNvSpPr/>
          <p:nvPr/>
        </p:nvSpPr>
        <p:spPr>
          <a:xfrm>
            <a:off x="2217280" y="1880000"/>
            <a:ext cx="300000" cy="30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04" name="Shape 104"/>
          <p:cNvSpPr/>
          <p:nvPr/>
        </p:nvSpPr>
        <p:spPr>
          <a:xfrm>
            <a:off x="1496416" y="2330000"/>
            <a:ext cx="1741728" cy="220000"/>
          </a:xfrm>
          <a:prstGeom prst="roundRect">
            <a:avLst>
              <a:gd name="adj" fmla="val 25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5" name="Shape 105"/>
          <p:cNvSpPr/>
          <p:nvPr/>
        </p:nvSpPr>
        <p:spPr>
          <a:xfrm>
            <a:off x="1496416" y="2670000"/>
            <a:ext cx="1741728" cy="220000"/>
          </a:xfrm>
          <a:prstGeom prst="roundRect">
            <a:avLst>
              <a:gd name="adj" fmla="val 25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6" name="Shape 106"/>
          <p:cNvSpPr/>
          <p:nvPr/>
        </p:nvSpPr>
        <p:spPr>
          <a:xfrm>
            <a:off x="1496416" y="3070000"/>
            <a:ext cx="1741728" cy="240000"/>
          </a:xfrm>
          <a:prstGeom prst="roundRect">
            <a:avLst>
              <a:gd name="adj" fmla="val 25000"/>
            </a:avLst>
          </a:prstGeom>
          <a:solidFill>
            <a:srgbClr val="CFEA3A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07" name="Text 107"/>
          <p:cNvSpPr txBox="1"/>
          <p:nvPr/>
        </p:nvSpPr>
        <p:spPr>
          <a:xfrm>
            <a:off x="4368800" y="1081315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Perfil de usuario</a:t>
            </a:r>
            <a:endParaRPr lang="en-US" sz="1150" dirty="0"/>
          </a:p>
        </p:txBody>
      </p:sp>
      <p:sp>
        <p:nvSpPr>
          <p:cNvPr id="108" name="Shape 108"/>
          <p:cNvSpPr/>
          <p:nvPr/>
        </p:nvSpPr>
        <p:spPr>
          <a:xfrm>
            <a:off x="5005880" y="1347896"/>
            <a:ext cx="2096992" cy="255074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09" name="Shape 109"/>
          <p:cNvSpPr/>
          <p:nvPr/>
        </p:nvSpPr>
        <p:spPr>
          <a:xfrm>
            <a:off x="5936000" y="1880000"/>
            <a:ext cx="320000" cy="32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0" name="Shape 110"/>
          <p:cNvSpPr/>
          <p:nvPr/>
        </p:nvSpPr>
        <p:spPr>
          <a:xfrm>
            <a:off x="5560568" y="2320000"/>
            <a:ext cx="1070864" cy="140000"/>
          </a:xfrm>
          <a:prstGeom prst="roundRect">
            <a:avLst>
              <a:gd name="adj" fmla="val 40000"/>
            </a:avLst>
          </a:prstGeom>
          <a:solidFill>
            <a:srgbClr val="BDD5B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1" name="Shape 111"/>
          <p:cNvSpPr/>
          <p:nvPr/>
        </p:nvSpPr>
        <p:spPr>
          <a:xfrm>
            <a:off x="5175057" y="2610000"/>
            <a:ext cx="514014" cy="19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2" name="Shape 112"/>
          <p:cNvSpPr/>
          <p:nvPr/>
        </p:nvSpPr>
        <p:spPr>
          <a:xfrm>
            <a:off x="5838992" y="2610000"/>
            <a:ext cx="514014" cy="19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3" name="Shape 113"/>
          <p:cNvSpPr/>
          <p:nvPr/>
        </p:nvSpPr>
        <p:spPr>
          <a:xfrm>
            <a:off x="6502927" y="2610000"/>
            <a:ext cx="514014" cy="19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4" name="Text 114"/>
          <p:cNvSpPr txBox="1"/>
          <p:nvPr/>
        </p:nvSpPr>
        <p:spPr>
          <a:xfrm>
            <a:off x="8068704" y="1067896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Buscar rival</a:t>
            </a:r>
            <a:endParaRPr lang="en-US" sz="1150" dirty="0"/>
          </a:p>
        </p:txBody>
      </p:sp>
      <p:sp>
        <p:nvSpPr>
          <p:cNvPr id="115" name="Shape 115"/>
          <p:cNvSpPr/>
          <p:nvPr/>
        </p:nvSpPr>
        <p:spPr>
          <a:xfrm>
            <a:off x="8748957" y="1361246"/>
            <a:ext cx="2141728" cy="2481018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6" name="Shape 116"/>
          <p:cNvSpPr/>
          <p:nvPr/>
        </p:nvSpPr>
        <p:spPr>
          <a:xfrm>
            <a:off x="8903856" y="1880000"/>
            <a:ext cx="1841728" cy="44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8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7" name="Shape 117"/>
          <p:cNvSpPr/>
          <p:nvPr/>
        </p:nvSpPr>
        <p:spPr>
          <a:xfrm>
            <a:off x="8973856" y="2030000"/>
            <a:ext cx="140000" cy="14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18" name="Shape 118"/>
          <p:cNvSpPr/>
          <p:nvPr/>
        </p:nvSpPr>
        <p:spPr>
          <a:xfrm>
            <a:off x="9173856" y="2050000"/>
            <a:ext cx="1421728" cy="10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19" name="Shape 119"/>
          <p:cNvSpPr/>
          <p:nvPr/>
        </p:nvSpPr>
        <p:spPr>
          <a:xfrm>
            <a:off x="8903856" y="2430000"/>
            <a:ext cx="1841728" cy="44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8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0" name="Shape 120"/>
          <p:cNvSpPr/>
          <p:nvPr/>
        </p:nvSpPr>
        <p:spPr>
          <a:xfrm>
            <a:off x="8973856" y="2580000"/>
            <a:ext cx="140000" cy="14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1" name="Shape 121"/>
          <p:cNvSpPr/>
          <p:nvPr/>
        </p:nvSpPr>
        <p:spPr>
          <a:xfrm>
            <a:off x="9173856" y="2600000"/>
            <a:ext cx="1421728" cy="10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2" name="Shape 122"/>
          <p:cNvSpPr/>
          <p:nvPr/>
        </p:nvSpPr>
        <p:spPr>
          <a:xfrm>
            <a:off x="8875040" y="3053900"/>
            <a:ext cx="1841728" cy="44000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 w="12700">
            <a:solidFill>
              <a:srgbClr val="D7E8D5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3" name="Shape 123"/>
          <p:cNvSpPr/>
          <p:nvPr/>
        </p:nvSpPr>
        <p:spPr>
          <a:xfrm>
            <a:off x="8973856" y="3130000"/>
            <a:ext cx="140000" cy="14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4" name="Shape 124"/>
          <p:cNvSpPr/>
          <p:nvPr/>
        </p:nvSpPr>
        <p:spPr>
          <a:xfrm>
            <a:off x="9173856" y="3150000"/>
            <a:ext cx="1421728" cy="10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5" name="Text 125"/>
          <p:cNvSpPr txBox="1"/>
          <p:nvPr/>
        </p:nvSpPr>
        <p:spPr>
          <a:xfrm>
            <a:off x="677832" y="4054513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Confirmación de match</a:t>
            </a:r>
            <a:endParaRPr lang="en-US" sz="1150" dirty="0"/>
          </a:p>
        </p:txBody>
      </p:sp>
      <p:sp>
        <p:nvSpPr>
          <p:cNvPr id="126" name="Shape 126"/>
          <p:cNvSpPr/>
          <p:nvPr/>
        </p:nvSpPr>
        <p:spPr>
          <a:xfrm>
            <a:off x="1296416" y="4323936"/>
            <a:ext cx="2141728" cy="242685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7" name="Shape 127"/>
          <p:cNvSpPr/>
          <p:nvPr/>
        </p:nvSpPr>
        <p:spPr>
          <a:xfrm>
            <a:off x="2177280" y="4687160"/>
            <a:ext cx="380000" cy="3800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8" name="Shape 128"/>
          <p:cNvSpPr/>
          <p:nvPr/>
        </p:nvSpPr>
        <p:spPr>
          <a:xfrm>
            <a:off x="1778305" y="5247160"/>
            <a:ext cx="1177950" cy="150000"/>
          </a:xfrm>
          <a:prstGeom prst="roundRect">
            <a:avLst>
              <a:gd name="adj" fmla="val 40000"/>
            </a:avLst>
          </a:prstGeom>
          <a:solidFill>
            <a:srgbClr val="BDD5B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29" name="Text 129"/>
          <p:cNvSpPr txBox="1"/>
          <p:nvPr/>
        </p:nvSpPr>
        <p:spPr>
          <a:xfrm>
            <a:off x="4377777" y="4003938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Cancha sugerida</a:t>
            </a:r>
            <a:endParaRPr lang="en-US" sz="1150" dirty="0"/>
          </a:p>
        </p:txBody>
      </p:sp>
      <p:sp>
        <p:nvSpPr>
          <p:cNvPr id="130" name="Shape 130"/>
          <p:cNvSpPr/>
          <p:nvPr/>
        </p:nvSpPr>
        <p:spPr>
          <a:xfrm>
            <a:off x="5037176" y="4266958"/>
            <a:ext cx="2141728" cy="2479555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1" name="Shape 131"/>
          <p:cNvSpPr/>
          <p:nvPr/>
        </p:nvSpPr>
        <p:spPr>
          <a:xfrm>
            <a:off x="5175136" y="4617160"/>
            <a:ext cx="1841728" cy="941420"/>
          </a:xfrm>
          <a:prstGeom prst="roundRect">
            <a:avLst>
              <a:gd name="adj" fmla="val 12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2" name="Shape 132"/>
          <p:cNvSpPr/>
          <p:nvPr/>
        </p:nvSpPr>
        <p:spPr>
          <a:xfrm>
            <a:off x="6011000" y="5002870"/>
            <a:ext cx="170000" cy="17000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3" name="Shape 133"/>
          <p:cNvSpPr/>
          <p:nvPr/>
        </p:nvSpPr>
        <p:spPr>
          <a:xfrm>
            <a:off x="5453482" y="5708580"/>
            <a:ext cx="1285036" cy="140000"/>
          </a:xfrm>
          <a:prstGeom prst="roundRect">
            <a:avLst>
              <a:gd name="adj" fmla="val 40000"/>
            </a:avLst>
          </a:prstGeom>
          <a:solidFill>
            <a:srgbClr val="BDD5B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4" name="Text 134"/>
          <p:cNvSpPr txBox="1"/>
          <p:nvPr/>
        </p:nvSpPr>
        <p:spPr>
          <a:xfrm>
            <a:off x="8157520" y="4006286"/>
            <a:ext cx="3454400" cy="280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0E3B23"/>
                </a:solidFill>
                <a:latin typeface="Calibri" pitchFamily="34" charset="0"/>
              </a:rPr>
              <a:t>Confirmación de reserva</a:t>
            </a:r>
            <a:endParaRPr lang="en-US" sz="1150" dirty="0"/>
          </a:p>
        </p:txBody>
      </p:sp>
      <p:sp>
        <p:nvSpPr>
          <p:cNvPr id="135" name="Shape 135"/>
          <p:cNvSpPr/>
          <p:nvPr/>
        </p:nvSpPr>
        <p:spPr>
          <a:xfrm>
            <a:off x="8748957" y="4286286"/>
            <a:ext cx="2141728" cy="2497263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 dirty="0"/>
          </a:p>
        </p:txBody>
      </p:sp>
      <p:sp>
        <p:nvSpPr>
          <p:cNvPr id="136" name="Shape 136"/>
          <p:cNvSpPr/>
          <p:nvPr/>
        </p:nvSpPr>
        <p:spPr>
          <a:xfrm>
            <a:off x="9664720" y="4647160"/>
            <a:ext cx="320000" cy="320000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7" name="Shape 137"/>
          <p:cNvSpPr/>
          <p:nvPr/>
        </p:nvSpPr>
        <p:spPr>
          <a:xfrm>
            <a:off x="9182202" y="5117160"/>
            <a:ext cx="1285036" cy="130000"/>
          </a:xfrm>
          <a:prstGeom prst="roundRect">
            <a:avLst>
              <a:gd name="adj" fmla="val 40000"/>
            </a:avLst>
          </a:prstGeom>
          <a:solidFill>
            <a:srgbClr val="BDD5BC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sp>
        <p:nvSpPr>
          <p:cNvPr id="138" name="Shape 138"/>
          <p:cNvSpPr/>
          <p:nvPr/>
        </p:nvSpPr>
        <p:spPr>
          <a:xfrm>
            <a:off x="9374957" y="5337160"/>
            <a:ext cx="899525" cy="100000"/>
          </a:xfrm>
          <a:prstGeom prst="roundRect">
            <a:avLst>
              <a:gd name="adj" fmla="val 50000"/>
            </a:avLst>
          </a:prstGeom>
          <a:solidFill>
            <a:srgbClr val="D7E8D5"/>
          </a:solidFill>
          <a:ln>
            <a:noFill/>
          </a:ln>
        </p:spPr>
        <p:txBody>
          <a:bodyPr/>
          <a:lstStyle/>
          <a:p>
            <a:endParaRPr lang="es-ES"/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9CA2C1B5-9892-2B74-8A22-E1C837503B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93014" y="1347896"/>
            <a:ext cx="1777487" cy="2528599"/>
          </a:xfrm>
          <a:prstGeom prst="rect">
            <a:avLst/>
          </a:prstGeom>
        </p:spPr>
      </p:pic>
      <p:pic>
        <p:nvPicPr>
          <p:cNvPr id="15" name="Imagen 14">
            <a:extLst>
              <a:ext uri="{FF2B5EF4-FFF2-40B4-BE49-F238E27FC236}">
                <a16:creationId xmlns:a16="http://schemas.microsoft.com/office/drawing/2014/main" id="{D90BCDDD-5982-51F4-3CCB-D0F55B28192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03855" y="1367251"/>
            <a:ext cx="1870519" cy="2475013"/>
          </a:xfrm>
          <a:prstGeom prst="rect">
            <a:avLst/>
          </a:prstGeom>
        </p:spPr>
      </p:pic>
      <p:pic>
        <p:nvPicPr>
          <p:cNvPr id="17" name="Imagen 16">
            <a:extLst>
              <a:ext uri="{FF2B5EF4-FFF2-40B4-BE49-F238E27FC236}">
                <a16:creationId xmlns:a16="http://schemas.microsoft.com/office/drawing/2014/main" id="{3A13F33D-847B-2708-0417-DF2159C09D0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93014" y="4266958"/>
            <a:ext cx="1823927" cy="2471604"/>
          </a:xfrm>
          <a:prstGeom prst="rect">
            <a:avLst/>
          </a:prstGeom>
        </p:spPr>
      </p:pic>
      <p:pic>
        <p:nvPicPr>
          <p:cNvPr id="20" name="Imagen 19">
            <a:extLst>
              <a:ext uri="{FF2B5EF4-FFF2-40B4-BE49-F238E27FC236}">
                <a16:creationId xmlns:a16="http://schemas.microsoft.com/office/drawing/2014/main" id="{E2EDA6FC-3D41-712A-5284-E56B35E23FA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496416" y="1347895"/>
            <a:ext cx="1741728" cy="2528599"/>
          </a:xfrm>
          <a:prstGeom prst="rect">
            <a:avLst/>
          </a:prstGeom>
        </p:spPr>
      </p:pic>
      <p:pic>
        <p:nvPicPr>
          <p:cNvPr id="23" name="Imagen 22">
            <a:extLst>
              <a:ext uri="{FF2B5EF4-FFF2-40B4-BE49-F238E27FC236}">
                <a16:creationId xmlns:a16="http://schemas.microsoft.com/office/drawing/2014/main" id="{D5B981B0-9C73-3A4F-78FA-495CFE7CFF0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496416" y="4334513"/>
            <a:ext cx="1741728" cy="2434526"/>
          </a:xfrm>
          <a:prstGeom prst="rect">
            <a:avLst/>
          </a:prstGeom>
        </p:spPr>
      </p:pic>
      <p:pic>
        <p:nvPicPr>
          <p:cNvPr id="25" name="Imagen 24">
            <a:extLst>
              <a:ext uri="{FF2B5EF4-FFF2-40B4-BE49-F238E27FC236}">
                <a16:creationId xmlns:a16="http://schemas.microsoft.com/office/drawing/2014/main" id="{B0BAB3DC-992F-82E4-E5FB-BB69E942F639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03856" y="4285049"/>
            <a:ext cx="1870519" cy="2497262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E87E09D-6F6E-B277-7705-C9A982DFF5A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E3B2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92640" y="-1188720"/>
            <a:ext cx="4754880" cy="4754880"/>
          </a:xfrm>
          <a:prstGeom prst="ellipse">
            <a:avLst/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44200" y="5349240"/>
            <a:ext cx="1005840" cy="100584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40080" y="7772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Conclusión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640080" y="1691640"/>
            <a:ext cx="8595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600"/>
              </a:lnSpc>
              <a:buNone/>
            </a:pPr>
            <a:r>
              <a:rPr lang="en-US" sz="1700" dirty="0">
                <a:solidFill>
                  <a:srgbClr val="D7E8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MeetTennis busca ser la solución de referencia para los jugadores de tenis de Santiago que hoy dependen de grupos de WhatsApp y redes sociales desordenadas para armar un partido.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40080" y="3017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7" name="Shape 4"/>
          <p:cNvSpPr/>
          <p:nvPr/>
        </p:nvSpPr>
        <p:spPr>
          <a:xfrm>
            <a:off x="932688" y="3291840"/>
            <a:ext cx="420624" cy="42062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8" name="Text 5"/>
          <p:cNvSpPr txBox="1"/>
          <p:nvPr/>
        </p:nvSpPr>
        <p:spPr>
          <a:xfrm>
            <a:off x="93268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1463040" y="32918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real</a:t>
            </a:r>
            <a:endParaRPr lang="en-US" sz="15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Encontrar rival y cancha es hoy una fricción concreta para la comunidad.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434840" y="3017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2" name="Shape 9"/>
          <p:cNvSpPr/>
          <p:nvPr/>
        </p:nvSpPr>
        <p:spPr>
          <a:xfrm>
            <a:off x="4727448" y="3291840"/>
            <a:ext cx="420624" cy="42062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3" name="Text 10"/>
          <p:cNvSpPr txBox="1"/>
          <p:nvPr/>
        </p:nvSpPr>
        <p:spPr>
          <a:xfrm>
            <a:off x="472744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4" name="Text 11"/>
          <p:cNvSpPr txBox="1"/>
          <p:nvPr/>
        </p:nvSpPr>
        <p:spPr>
          <a:xfrm>
            <a:off x="5257800" y="32918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Alcance realista</a:t>
            </a:r>
            <a:endParaRPr lang="en-US" sz="1500" dirty="0"/>
          </a:p>
        </p:txBody>
      </p:sp>
      <p:sp>
        <p:nvSpPr>
          <p:cNvPr id="15" name="Text 12"/>
          <p:cNvSpPr txBox="1"/>
          <p:nvPr/>
        </p:nvSpPr>
        <p:spPr>
          <a:xfrm>
            <a:off x="4727448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MVP acotado a matchmaking por nivel, ubicación y visualización de canchas.</a:t>
            </a:r>
            <a:endParaRPr lang="en-US" sz="1300" dirty="0"/>
          </a:p>
        </p:txBody>
      </p:sp>
      <p:sp>
        <p:nvSpPr>
          <p:cNvPr id="16" name="Shape 13"/>
          <p:cNvSpPr/>
          <p:nvPr/>
        </p:nvSpPr>
        <p:spPr>
          <a:xfrm>
            <a:off x="8229600" y="3017520"/>
            <a:ext cx="3520440" cy="1920240"/>
          </a:xfrm>
          <a:prstGeom prst="roundRect">
            <a:avLst>
              <a:gd name="adj" fmla="val 5714"/>
            </a:avLst>
          </a:prstGeom>
          <a:solidFill>
            <a:srgbClr val="1B5E3A"/>
          </a:solidFill>
          <a:ln w="12700">
            <a:solidFill>
              <a:srgbClr val="1B5E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7" name="Shape 14"/>
          <p:cNvSpPr/>
          <p:nvPr/>
        </p:nvSpPr>
        <p:spPr>
          <a:xfrm>
            <a:off x="8522208" y="3291840"/>
            <a:ext cx="420624" cy="420624"/>
          </a:xfrm>
          <a:prstGeom prst="ellipse">
            <a:avLst/>
          </a:prstGeom>
          <a:solidFill>
            <a:srgbClr val="CFEA3A"/>
          </a:solidFill>
          <a:ln w="12700">
            <a:solidFill>
              <a:srgbClr val="CFEA3A"/>
            </a:solidFill>
            <a:prstDash val="solid"/>
          </a:ln>
        </p:spPr>
        <p:txBody>
          <a:bodyPr/>
          <a:lstStyle/>
          <a:p>
            <a:endParaRPr lang="es-ES"/>
          </a:p>
        </p:txBody>
      </p:sp>
      <p:sp>
        <p:nvSpPr>
          <p:cNvPr id="18" name="Text 15"/>
          <p:cNvSpPr txBox="1"/>
          <p:nvPr/>
        </p:nvSpPr>
        <p:spPr>
          <a:xfrm>
            <a:off x="8522208" y="3291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E3B2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6"/>
          <p:cNvSpPr txBox="1"/>
          <p:nvPr/>
        </p:nvSpPr>
        <p:spPr>
          <a:xfrm>
            <a:off x="9052560" y="329184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CFE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de egreso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8522208" y="3886200"/>
            <a:ext cx="29718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E4EEE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 de forma integral las competencias técnicas y de gestión de la carrera.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640080" y="53492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CFEA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Gracias — ¿Preguntas?</a:t>
            </a:r>
            <a:endParaRPr lang="en-US" sz="2200" dirty="0"/>
          </a:p>
        </p:txBody>
      </p:sp>
      <p:pic>
        <p:nvPicPr>
          <p:cNvPr id="23" name="Imagen 22">
            <a:extLst>
              <a:ext uri="{FF2B5EF4-FFF2-40B4-BE49-F238E27FC236}">
                <a16:creationId xmlns:a16="http://schemas.microsoft.com/office/drawing/2014/main" id="{6ECB5D87-16B6-5F42-934A-BFD6A6F6E58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2921" y="-102869"/>
            <a:ext cx="1314902" cy="6332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238</TotalTime>
  <Words>1636</Words>
  <Application>Microsoft Office PowerPoint</Application>
  <PresentationFormat>Panorámica</PresentationFormat>
  <Paragraphs>227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Arial</vt:lpstr>
      <vt:lpstr>Calibri</vt:lpstr>
      <vt:lpstr>Cambria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MeetTennis — Informe de Proyecto (Fase 1)</dc:title>
  <dc:subject>PptxGenJS Presentation</dc:subject>
  <dc:creator>Fabián Baeza · Felipe Sandoval · Sebastián Toledo</dc:creator>
  <cp:lastModifiedBy>Felipe Sandoval</cp:lastModifiedBy>
  <cp:revision>3</cp:revision>
  <dcterms:created xsi:type="dcterms:W3CDTF">2026-08-30T04:38:58Z</dcterms:created>
  <dcterms:modified xsi:type="dcterms:W3CDTF">2026-09-01T03:01:08Z</dcterms:modified>
</cp:coreProperties>
</file>