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2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C79C0F-8AB8-4D40-B651-5C33A6DC4EF2}" v="1" dt="2026-09-01T02:44:25.81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1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45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Portada. Presentar el nombre del proyecto, el equipo y la idea en una frase.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Índice de la presentación: 14 secciones.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qué es MeetTennis en una frase y por qué el proyecto es pertinente para el perfil de egreso.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Existen soluciones parciales, pero el espacio exacto que ocupa MeetTennis está vacío.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problema es doble: falta de rival y falta de información ordenada de canchas.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reservada: adjuntar aquí las imágenes de evidencia.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componentes: perfil, matching y sugerencia de cancha. Cerrar con el objetivo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semanas divididas en 9 sprints de 2 semanas, agrupados en las 3 fases de la asignatura.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integrante tiene un frente definido; el líder técnico apoya al resto al cerrar sus tareas.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diagrama de arquitectura de 3 capas se muestra como imagen de apoyo.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competencias centrales del perfil de egreso, con su evidencia concreta en el proyecto.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riesgos principales, cada uno con una mitigación concreta y realista.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medidas de seguridad, desde la autenticación hasta el cumplimiento de la Ley 19.628.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Dejar claro que el modelo de negocio es proyección futura, no parte del MVP.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las 6 pantallas del flujo: registro, perfil, buscar rival, confirmación de match, cancha sugerida y confirmación de reserva.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problema real, alcance realista y coherencia con el perfil de egreso.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4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3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30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Relationship Id="rId9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463040"/>
            <a:ext cx="5669280" cy="566928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1417320"/>
            <a:ext cx="2377440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TÍTULO · FASE 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87452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MeetTennis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rival, reserva cancha y vuelve a jugar.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640080" y="3977640"/>
            <a:ext cx="7589520" cy="1143000"/>
          </a:xfrm>
          <a:prstGeom prst="roundRect">
            <a:avLst>
              <a:gd name="adj" fmla="val 9600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9" name="Text 6"/>
          <p:cNvSpPr txBox="1"/>
          <p:nvPr/>
        </p:nvSpPr>
        <p:spPr>
          <a:xfrm>
            <a:off x="960120" y="411480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kern="0" spc="200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del equipo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960120" y="44348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Fabián Baeza   ·   Felipe Sandoval   ·   Sebastián Toledo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669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DB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progresiva para la comunidad de tenis de Santiago</a:t>
            </a:r>
            <a:endParaRPr lang="en-US" sz="13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403EEC77-D045-0FA1-2B55-7D1F690EB5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-358398" y="-31430"/>
            <a:ext cx="2486377" cy="135731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206240"/>
            <a:ext cx="4023360" cy="402336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743200" cy="274320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826496" y="4974336"/>
            <a:ext cx="2304288" cy="2304288"/>
          </a:xfrm>
          <a:prstGeom prst="ellipse">
            <a:avLst/>
          </a:prstGeom>
          <a:solidFill>
            <a:srgbClr val="F5FAEE"/>
          </a:solidFill>
          <a:ln w="12700">
            <a:solidFill>
              <a:srgbClr val="F5FA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1338560" y="1737360"/>
            <a:ext cx="822960" cy="82296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 la presentación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566928" y="1426464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749808" y="1536192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74980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14264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66928" y="2084832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749808" y="2194560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74980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298448" y="20848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66928" y="2743200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hape 17"/>
          <p:cNvSpPr/>
          <p:nvPr/>
        </p:nvSpPr>
        <p:spPr>
          <a:xfrm>
            <a:off x="749808" y="2852928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Text 18"/>
          <p:cNvSpPr txBox="1"/>
          <p:nvPr/>
        </p:nvSpPr>
        <p:spPr>
          <a:xfrm>
            <a:off x="749808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298448" y="27432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3401568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21"/>
          <p:cNvSpPr/>
          <p:nvPr/>
        </p:nvSpPr>
        <p:spPr>
          <a:xfrm>
            <a:off x="749808" y="3511296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5" name="Text 22"/>
          <p:cNvSpPr txBox="1"/>
          <p:nvPr/>
        </p:nvSpPr>
        <p:spPr>
          <a:xfrm>
            <a:off x="749808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298448" y="34015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566928" y="4059936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Shape 25"/>
          <p:cNvSpPr/>
          <p:nvPr/>
        </p:nvSpPr>
        <p:spPr>
          <a:xfrm>
            <a:off x="749808" y="4169664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6"/>
          <p:cNvSpPr txBox="1"/>
          <p:nvPr/>
        </p:nvSpPr>
        <p:spPr>
          <a:xfrm>
            <a:off x="749808" y="4169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298448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566928" y="4718304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9"/>
          <p:cNvSpPr/>
          <p:nvPr/>
        </p:nvSpPr>
        <p:spPr>
          <a:xfrm>
            <a:off x="749808" y="4828032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3" name="Text 30"/>
          <p:cNvSpPr txBox="1"/>
          <p:nvPr/>
        </p:nvSpPr>
        <p:spPr>
          <a:xfrm>
            <a:off x="749808" y="4828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1298448" y="471830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 y Plan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566928" y="5376672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749808" y="5486400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749808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298448" y="53766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del equipo</a:t>
            </a:r>
            <a:endParaRPr lang="en-US" sz="1500" dirty="0"/>
          </a:p>
        </p:txBody>
      </p:sp>
      <p:sp>
        <p:nvSpPr>
          <p:cNvPr id="39" name="Shape 36"/>
          <p:cNvSpPr/>
          <p:nvPr/>
        </p:nvSpPr>
        <p:spPr>
          <a:xfrm>
            <a:off x="6144768" y="1426464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0" name="Shape 37"/>
          <p:cNvSpPr/>
          <p:nvPr/>
        </p:nvSpPr>
        <p:spPr>
          <a:xfrm>
            <a:off x="6327648" y="1536192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Text 38"/>
          <p:cNvSpPr txBox="1"/>
          <p:nvPr/>
        </p:nvSpPr>
        <p:spPr>
          <a:xfrm>
            <a:off x="6327648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14264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Tecnológico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6144768" y="2084832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4" name="Shape 41"/>
          <p:cNvSpPr/>
          <p:nvPr/>
        </p:nvSpPr>
        <p:spPr>
          <a:xfrm>
            <a:off x="6327648" y="2194560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42"/>
          <p:cNvSpPr txBox="1"/>
          <p:nvPr/>
        </p:nvSpPr>
        <p:spPr>
          <a:xfrm>
            <a:off x="6327648" y="2194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6876288" y="20848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6144768" y="2743200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8" name="Shape 45"/>
          <p:cNvSpPr/>
          <p:nvPr/>
        </p:nvSpPr>
        <p:spPr>
          <a:xfrm>
            <a:off x="6327648" y="2852928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9" name="Text 46"/>
          <p:cNvSpPr txBox="1"/>
          <p:nvPr/>
        </p:nvSpPr>
        <p:spPr>
          <a:xfrm>
            <a:off x="6327648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876288" y="274320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6144768" y="3401568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2" name="Shape 49"/>
          <p:cNvSpPr/>
          <p:nvPr/>
        </p:nvSpPr>
        <p:spPr>
          <a:xfrm>
            <a:off x="6327648" y="3511296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3" name="Text 50"/>
          <p:cNvSpPr txBox="1"/>
          <p:nvPr/>
        </p:nvSpPr>
        <p:spPr>
          <a:xfrm>
            <a:off x="6327648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6876288" y="340156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6144768" y="4059936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6327648" y="4169664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6327648" y="4169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6876288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500" dirty="0"/>
          </a:p>
        </p:txBody>
      </p:sp>
      <p:sp>
        <p:nvSpPr>
          <p:cNvPr id="59" name="Shape 56"/>
          <p:cNvSpPr/>
          <p:nvPr/>
        </p:nvSpPr>
        <p:spPr>
          <a:xfrm>
            <a:off x="6144768" y="4718304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0" name="Shape 57"/>
          <p:cNvSpPr/>
          <p:nvPr/>
        </p:nvSpPr>
        <p:spPr>
          <a:xfrm>
            <a:off x="6327648" y="4828032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Text 58"/>
          <p:cNvSpPr txBox="1"/>
          <p:nvPr/>
        </p:nvSpPr>
        <p:spPr>
          <a:xfrm>
            <a:off x="6327648" y="4828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62" name="Text 59"/>
          <p:cNvSpPr txBox="1"/>
          <p:nvPr/>
        </p:nvSpPr>
        <p:spPr>
          <a:xfrm>
            <a:off x="6876288" y="471830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Mockup</a:t>
            </a:r>
            <a:endParaRPr lang="en-US" sz="1500" dirty="0"/>
          </a:p>
        </p:txBody>
      </p:sp>
      <p:sp>
        <p:nvSpPr>
          <p:cNvPr id="63" name="Shape 60"/>
          <p:cNvSpPr/>
          <p:nvPr/>
        </p:nvSpPr>
        <p:spPr>
          <a:xfrm>
            <a:off x="6144768" y="5376672"/>
            <a:ext cx="507492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76200" dist="25400" dir="5400000" algn="bl" rotWithShape="0">
              <a:srgbClr val="1B5E3A">
                <a:alpha val="7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64" name="Shape 61"/>
          <p:cNvSpPr/>
          <p:nvPr/>
        </p:nvSpPr>
        <p:spPr>
          <a:xfrm>
            <a:off x="6327648" y="5486400"/>
            <a:ext cx="365760" cy="36576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5" name="Text 62"/>
          <p:cNvSpPr txBox="1"/>
          <p:nvPr/>
        </p:nvSpPr>
        <p:spPr>
          <a:xfrm>
            <a:off x="6327648" y="5486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66" name="Text 63"/>
          <p:cNvSpPr txBox="1"/>
          <p:nvPr/>
        </p:nvSpPr>
        <p:spPr>
          <a:xfrm>
            <a:off x="6876288" y="53766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500" dirty="0"/>
          </a:p>
        </p:txBody>
      </p:sp>
      <p:pic>
        <p:nvPicPr>
          <p:cNvPr id="68" name="Imagen 67">
            <a:extLst>
              <a:ext uri="{FF2B5EF4-FFF2-40B4-BE49-F238E27FC236}">
                <a16:creationId xmlns:a16="http://schemas.microsoft.com/office/drawing/2014/main" id="{E13B0FB3-2FF8-E036-5D00-A56BBCE036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937760"/>
            <a:ext cx="3840480" cy="384048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005840" y="5120640"/>
            <a:ext cx="2560320" cy="256032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804672" y="5321808"/>
            <a:ext cx="2157984" cy="21579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Introducción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MeetTennis?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640080" y="1417320"/>
            <a:ext cx="6492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MeetTennis es una aplicación web progresiva (PWA) que ayuda a los jugadores de tenis de Santiago a encontrar un rival según su nivel, experiencia y ubicación, y a coordinar el arriendo de una cancha conveniente para ambos.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43784"/>
            <a:ext cx="402336" cy="402336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2944368"/>
            <a:ext cx="201168" cy="20116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07008" y="278892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rival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07008" y="309981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Jugadores compatibles por nivel y cercanía.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3895344"/>
            <a:ext cx="402336" cy="402336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" y="3995928"/>
            <a:ext cx="201168" cy="201168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07008" y="384048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cancha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207008" y="415137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Recinto sugerido en un punto conveniente para ambos.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40080" y="4946904"/>
            <a:ext cx="402336" cy="402336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5047488"/>
            <a:ext cx="201168" cy="20116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07008" y="489204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</a:t>
            </a:r>
            <a:r>
              <a:rPr lang="en-US" sz="1500" b="1" dirty="0" err="1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instalar</a:t>
            </a:r>
            <a:r>
              <a:rPr lang="en-US" sz="15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nada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1207008" y="5202936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en el </a:t>
            </a:r>
            <a:r>
              <a:rPr lang="en-US" sz="1300" dirty="0" err="1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navegador</a:t>
            </a: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se </a:t>
            </a:r>
            <a:r>
              <a:rPr lang="en-US" sz="1300" dirty="0" err="1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</a:t>
            </a: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</a:t>
            </a: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7589520" y="1417320"/>
            <a:ext cx="3977640" cy="4480560"/>
          </a:xfrm>
          <a:prstGeom prst="roundRect">
            <a:avLst>
              <a:gd name="adj" fmla="val 2759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80" y="1783080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955280" y="2377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Relevancia para el campo laboral</a:t>
            </a:r>
            <a:endParaRPr lang="en-US" sz="2000" dirty="0"/>
          </a:p>
        </p:txBody>
      </p:sp>
      <p:sp>
        <p:nvSpPr>
          <p:cNvPr id="26" name="Text 19"/>
          <p:cNvSpPr txBox="1"/>
          <p:nvPr/>
        </p:nvSpPr>
        <p:spPr>
          <a:xfrm>
            <a:off x="7955280" y="3154680"/>
            <a:ext cx="3246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de forma integral el desarrollo web full-stack, el diseño de bases de datos relacionales y la gestión ágil de proyectos: habilidades muy demandadas hoy en la industria del software.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Además, se enmarca en una industria en crecimiento: las apps de conexión social y coordinación deportiva, un nicho real de oportunidad profesional.</a:t>
            </a:r>
            <a:endParaRPr lang="en-US" sz="1300" dirty="0"/>
          </a:p>
        </p:txBody>
      </p:sp>
      <p:pic>
        <p:nvPicPr>
          <p:cNvPr id="28" name="Imagen 27">
            <a:extLst>
              <a:ext uri="{FF2B5EF4-FFF2-40B4-BE49-F238E27FC236}">
                <a16:creationId xmlns:a16="http://schemas.microsoft.com/office/drawing/2014/main" id="{FC740255-EF77-BF02-5AB6-A42A1698F46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389120"/>
            <a:ext cx="4206240" cy="420624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765792" y="4645152"/>
            <a:ext cx="3694176" cy="3694176"/>
          </a:xfrm>
          <a:prstGeom prst="ellipse">
            <a:avLst/>
          </a:prstGeom>
          <a:solidFill>
            <a:srgbClr val="F5FAEE"/>
          </a:solidFill>
          <a:ln w="12700">
            <a:solidFill>
              <a:srgbClr val="F5FA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822960" y="5669280"/>
            <a:ext cx="2377440" cy="237744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de apps deportivas en crecimiento sostenido en Chile y Latinoamérica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46304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960120" y="1847088"/>
            <a:ext cx="512064" cy="51206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197510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45920" y="171907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EasyCancha / Alquila tu Cancha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645920" y="206654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Arriendo de canchas, enfoque multideporte y generalista.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292608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960120" y="3310128"/>
            <a:ext cx="512064" cy="51206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343814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45920" y="318211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Tenniscall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645920" y="352958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Matchmaking entre jugadores, pero orientado al mercado internacional.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40080" y="4389120"/>
            <a:ext cx="667512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6"/>
          <p:cNvSpPr/>
          <p:nvPr/>
        </p:nvSpPr>
        <p:spPr>
          <a:xfrm>
            <a:off x="960120" y="4773168"/>
            <a:ext cx="512064" cy="51206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" y="490118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45920" y="46451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y redes sociales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645920" y="4992624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informal: hoy es la vía real de la comunidad en Santiago.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7772400" y="1463040"/>
            <a:ext cx="3794760" cy="4023360"/>
          </a:xfrm>
          <a:prstGeom prst="roundRect">
            <a:avLst>
              <a:gd name="adj" fmla="val 2892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Text 20"/>
          <p:cNvSpPr txBox="1"/>
          <p:nvPr/>
        </p:nvSpPr>
        <p:spPr>
          <a:xfrm>
            <a:off x="809244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brecha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8092440" y="2423160"/>
            <a:ext cx="3154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spcAft>
                <a:spcPts val="1200"/>
              </a:spcAft>
              <a:buNone/>
            </a:pPr>
            <a:r>
              <a:rPr lang="en-US" sz="14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solución combina, para Santiago: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Matchmaking por nivel de juego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Cancha en un punto conveniente para ambos jugadores</a:t>
            </a:r>
            <a:endParaRPr lang="en-US" sz="1400" dirty="0"/>
          </a:p>
          <a:p>
            <a:pPr marL="342900" indent="-342900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una sola herramienta</a:t>
            </a:r>
            <a:endParaRPr lang="en-US" sz="140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386D2326-A8A7-13BC-6CF7-C8F7AFE875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3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108960" cy="310896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188720" y="4480560"/>
            <a:ext cx="3291840" cy="329184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950976" y="4718304"/>
            <a:ext cx="2816352" cy="2816352"/>
          </a:xfrm>
          <a:prstGeom prst="ellipse">
            <a:avLst/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Problemática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D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Cientos de personas en Santiago quieren jugar tenis y no encuentran con quién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73736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2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417320" y="167335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recién empieza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1417320" y="203911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conoce jugadores y no tiene dónde buscarlos.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40080" y="315468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291840"/>
            <a:ext cx="274320" cy="2743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309067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juega habitualmente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417320" y="345643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queda sin partido cuando su grupo no puede.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40080" y="457200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70916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4507992"/>
            <a:ext cx="5760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de canchas dispersa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1417320" y="487375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recintos solo atienden por redes sociales y con datos desordenados.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589520" y="1508760"/>
            <a:ext cx="3977640" cy="4114800"/>
          </a:xfrm>
          <a:prstGeom prst="roundRect">
            <a:avLst>
              <a:gd name="adj" fmla="val 2759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17"/>
          <p:cNvSpPr txBox="1"/>
          <p:nvPr/>
        </p:nvSpPr>
        <p:spPr>
          <a:xfrm>
            <a:off x="7955280" y="1874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consecuencia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7955280" y="2331720"/>
            <a:ext cx="3291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juega menos de lo que se quisiera.</a:t>
            </a:r>
            <a:endParaRPr lang="en-US" sz="3000" dirty="0"/>
          </a:p>
        </p:txBody>
      </p:sp>
      <p:sp>
        <p:nvSpPr>
          <p:cNvPr id="25" name="Text 19"/>
          <p:cNvSpPr txBox="1"/>
          <p:nvPr/>
        </p:nvSpPr>
        <p:spPr>
          <a:xfrm>
            <a:off x="7955280" y="397764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Coordinar y armar un partido resulta tan complicado que muchos jugadores simplemente se desmotivan.</a:t>
            </a:r>
            <a:endParaRPr lang="en-US" sz="140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8A68E2BF-5863-F5F3-35B0-5B43B566C5B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5394960"/>
            <a:ext cx="2926080" cy="292608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1100816" y="5614416"/>
            <a:ext cx="2487168" cy="2487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25" y="38404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2863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875CC980-129F-89A3-3CDA-6520DE5F6B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4102AEB-B690-57D0-B7DA-175583DCC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455" y="4487718"/>
            <a:ext cx="5192549" cy="2150259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EF769996-65C0-7A30-73F8-C5C0B9AE70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37189" y="353570"/>
            <a:ext cx="6378003" cy="695325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A58ECF4C-5501-EED6-5245-6E8C69BA34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3780" y="1295152"/>
            <a:ext cx="7186843" cy="81915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6C365DDB-4155-6D55-8E22-B21F157358D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3780" y="2262052"/>
            <a:ext cx="6432596" cy="1323975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3A6135FD-F8DB-AB8C-781F-A6AFFBB7EE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3780" y="3733778"/>
            <a:ext cx="6432596" cy="2923907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E2204B8-1068-2D4E-B245-876ABDDBDEF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83253" y="2262763"/>
            <a:ext cx="4974968" cy="2042075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F6125EB4-FD1E-E89B-E414-B44B4DAE76D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96732" y="1295152"/>
            <a:ext cx="4361489" cy="81516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206240"/>
            <a:ext cx="4023360" cy="402336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743200" cy="274320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826496" y="4974336"/>
            <a:ext cx="2304288" cy="23042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1338560" y="1737360"/>
            <a:ext cx="822960" cy="82296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Solución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componentes centrales que resuelven el problema de punta a punta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4008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960120" y="1783080"/>
            <a:ext cx="621792" cy="621792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5568" y="1938528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29184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9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usuario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296265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jugador declara su nivel de juego, su ubicación y su disponibilidad horaria.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43484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4"/>
          <p:cNvSpPr/>
          <p:nvPr/>
        </p:nvSpPr>
        <p:spPr>
          <a:xfrm>
            <a:off x="4754880" y="1783080"/>
            <a:ext cx="621792" cy="621792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0328" y="1938528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08660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9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21" name="Text 16"/>
          <p:cNvSpPr txBox="1"/>
          <p:nvPr/>
        </p:nvSpPr>
        <p:spPr>
          <a:xfrm>
            <a:off x="475488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de rivales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4754880" y="296265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listado de rivales categorizados por nivel y proximidad, dentro de un radio configurable.</a:t>
            </a:r>
            <a:endParaRPr lang="en-US" sz="1300" dirty="0"/>
          </a:p>
        </p:txBody>
      </p:sp>
      <p:sp>
        <p:nvSpPr>
          <p:cNvPr id="23" name="Shape 18"/>
          <p:cNvSpPr/>
          <p:nvPr/>
        </p:nvSpPr>
        <p:spPr>
          <a:xfrm>
            <a:off x="8229600" y="150876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4" name="Shape 19"/>
          <p:cNvSpPr/>
          <p:nvPr/>
        </p:nvSpPr>
        <p:spPr>
          <a:xfrm>
            <a:off x="8549640" y="1783080"/>
            <a:ext cx="621792" cy="621792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05088" y="1938528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0881360" y="17373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9C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8549640" y="2560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 de cancha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549640" y="296265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calcula el punto medio entre ambos y recomienda canchas cercanas para reservar.</a:t>
            </a:r>
            <a:endParaRPr lang="en-US" sz="1300" dirty="0"/>
          </a:p>
        </p:txBody>
      </p:sp>
      <p:sp>
        <p:nvSpPr>
          <p:cNvPr id="29" name="Shape 23"/>
          <p:cNvSpPr/>
          <p:nvPr/>
        </p:nvSpPr>
        <p:spPr>
          <a:xfrm>
            <a:off x="640080" y="44348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0" name="Text 24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1005840" y="4937760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Facilitar que los jugadores de tenis de Santiago encuentren rival y coordinen dónde jugar, de forma rápida y organizada.</a:t>
            </a:r>
            <a:endParaRPr lang="en-US" sz="1700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6C8F6E85-53A7-2925-9C09-9DF56EB0C2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4937760"/>
            <a:ext cx="3840480" cy="384048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005840" y="5120640"/>
            <a:ext cx="2560320" cy="256032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804672" y="5321808"/>
            <a:ext cx="2157984" cy="2157984"/>
          </a:xfrm>
          <a:prstGeom prst="ellipse">
            <a:avLst/>
          </a:prstGeom>
          <a:solidFill>
            <a:srgbClr val="F5FAEE"/>
          </a:solidFill>
          <a:ln w="12700">
            <a:solidFill>
              <a:srgbClr val="F5FA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y Plan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· 9 sprints de 2 semanas · 18 semanas de trabajo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463040"/>
            <a:ext cx="3566160" cy="4114800"/>
          </a:xfrm>
          <a:prstGeom prst="roundRect">
            <a:avLst>
              <a:gd name="adj" fmla="val 3077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1783080"/>
            <a:ext cx="420624" cy="4206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05840" y="22402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Ágil — Scrum</a:t>
            </a:r>
            <a:endParaRPr lang="en-US" sz="1900" dirty="0"/>
          </a:p>
        </p:txBody>
      </p:sp>
      <p:sp>
        <p:nvSpPr>
          <p:cNvPr id="13" name="Text 9"/>
          <p:cNvSpPr txBox="1"/>
          <p:nvPr/>
        </p:nvSpPr>
        <p:spPr>
          <a:xfrm>
            <a:off x="1005840" y="2916315"/>
            <a:ext cx="2926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spcAft>
                <a:spcPts val="1200"/>
              </a:spcAft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iterativo e incremental con entrega continua de software funcional, en ciclos cortos que permiten evaluar el avance de forma constante.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Factibilidad: solo herramientas gratuitas y de código abierto, base de canchas precargada con información pública y apoyo interno del integrante con más experiencia.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4617720" y="1463040"/>
            <a:ext cx="693115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hape 11"/>
          <p:cNvSpPr/>
          <p:nvPr/>
        </p:nvSpPr>
        <p:spPr>
          <a:xfrm>
            <a:off x="4892040" y="1874520"/>
            <a:ext cx="457200" cy="4572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2"/>
          <p:cNvSpPr txBox="1"/>
          <p:nvPr/>
        </p:nvSpPr>
        <p:spPr>
          <a:xfrm>
            <a:off x="4892040" y="1874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532120" y="164592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· Sprints 1-2</a:t>
            </a:r>
            <a:r>
              <a:rPr lang="en-US" sz="12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Semanas 1-4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9751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Problemática, objetivos, stack tecnológico, roles y mockups iniciales.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5532120" y="23774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Hito: Fase 1 cerrada y presentada.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617720" y="2880360"/>
            <a:ext cx="693115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7"/>
          <p:cNvSpPr/>
          <p:nvPr/>
        </p:nvSpPr>
        <p:spPr>
          <a:xfrm>
            <a:off x="4892040" y="3291840"/>
            <a:ext cx="457200" cy="4572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8"/>
          <p:cNvSpPr txBox="1"/>
          <p:nvPr/>
        </p:nvSpPr>
        <p:spPr>
          <a:xfrm>
            <a:off x="48920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19"/>
          <p:cNvSpPr txBox="1"/>
          <p:nvPr/>
        </p:nvSpPr>
        <p:spPr>
          <a:xfrm>
            <a:off x="5532120" y="306324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· Sprints 3-8</a:t>
            </a:r>
            <a:r>
              <a:rPr lang="en-US" sz="12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Semanas 5-16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5532120" y="339242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datos, backend (autenticación, matching, canchas y reservas), frontend PWA e integración.</a:t>
            </a:r>
            <a:endParaRPr lang="en-US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5532120" y="379476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Hito: demo funcional de punta a punta.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4617720" y="4297680"/>
            <a:ext cx="6931152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3"/>
          <p:cNvSpPr/>
          <p:nvPr/>
        </p:nvSpPr>
        <p:spPr>
          <a:xfrm>
            <a:off x="4892040" y="4709160"/>
            <a:ext cx="457200" cy="4572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Text 24"/>
          <p:cNvSpPr txBox="1"/>
          <p:nvPr/>
        </p:nvSpPr>
        <p:spPr>
          <a:xfrm>
            <a:off x="489204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5532120" y="4480560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· Sprint 9</a:t>
            </a:r>
            <a:r>
              <a:rPr lang="en-US" sz="12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Semanas 17-18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5532120" y="480974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Pulido general, diario de reflexión y ensayo de la presentación.</a:t>
            </a:r>
            <a:endParaRPr lang="en-US" sz="1250" dirty="0"/>
          </a:p>
        </p:txBody>
      </p:sp>
      <p:sp>
        <p:nvSpPr>
          <p:cNvPr id="31" name="Text 27"/>
          <p:cNvSpPr txBox="1"/>
          <p:nvPr/>
        </p:nvSpPr>
        <p:spPr>
          <a:xfrm>
            <a:off x="5532120" y="521208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Hito: proyecto final entregado.</a:t>
            </a:r>
            <a:endParaRPr lang="en-US" sz="1200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EFD1E8E1-39FE-9310-C2C8-7CDAD08BF9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3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389120"/>
            <a:ext cx="4206240" cy="420624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765792" y="4645152"/>
            <a:ext cx="3694176" cy="3694176"/>
          </a:xfrm>
          <a:prstGeom prst="ellipse">
            <a:avLst/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822960" y="5669280"/>
            <a:ext cx="2377440" cy="237744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 del equipo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D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integrantes, tres frentes de trabajo complementarios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1938528" y="1874520"/>
            <a:ext cx="914400" cy="9144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7128" y="21031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1440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Fabián Baeza</a:t>
            </a:r>
            <a:endParaRPr lang="en-US" sz="2000" dirty="0"/>
          </a:p>
        </p:txBody>
      </p:sp>
      <p:sp>
        <p:nvSpPr>
          <p:cNvPr id="14" name="Shape 10"/>
          <p:cNvSpPr/>
          <p:nvPr/>
        </p:nvSpPr>
        <p:spPr>
          <a:xfrm>
            <a:off x="914400" y="3429000"/>
            <a:ext cx="2971800" cy="384048"/>
          </a:xfrm>
          <a:prstGeom prst="roundRect">
            <a:avLst>
              <a:gd name="adj" fmla="val 47619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5" name="Text 11"/>
          <p:cNvSpPr txBox="1"/>
          <p:nvPr/>
        </p:nvSpPr>
        <p:spPr>
          <a:xfrm>
            <a:off x="914400" y="342900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y base de datos · Líder técnico</a:t>
            </a:r>
            <a:endParaRPr lang="en-US" sz="1150" dirty="0"/>
          </a:p>
        </p:txBody>
      </p:sp>
      <p:sp>
        <p:nvSpPr>
          <p:cNvPr id="16" name="Text 12"/>
          <p:cNvSpPr txBox="1"/>
          <p:nvPr/>
        </p:nvSpPr>
        <p:spPr>
          <a:xfrm>
            <a:off x="960120" y="39776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datos, autenticación, módulo de matching, canchas y reservas. Al terminar, apoya la integración final.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44348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4"/>
          <p:cNvSpPr/>
          <p:nvPr/>
        </p:nvSpPr>
        <p:spPr>
          <a:xfrm>
            <a:off x="5733288" y="1874520"/>
            <a:ext cx="914400" cy="9144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888" y="21031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70916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Felipe Sandoval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4709160" y="3429000"/>
            <a:ext cx="2971800" cy="384048"/>
          </a:xfrm>
          <a:prstGeom prst="roundRect">
            <a:avLst>
              <a:gd name="adj" fmla="val 47619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7"/>
          <p:cNvSpPr txBox="1"/>
          <p:nvPr/>
        </p:nvSpPr>
        <p:spPr>
          <a:xfrm>
            <a:off x="4709160" y="342900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y evidencias</a:t>
            </a:r>
            <a:endParaRPr lang="en-US" sz="1150" dirty="0"/>
          </a:p>
        </p:txBody>
      </p:sp>
      <p:sp>
        <p:nvSpPr>
          <p:cNvPr id="23" name="Text 18"/>
          <p:cNvSpPr txBox="1"/>
          <p:nvPr/>
        </p:nvSpPr>
        <p:spPr>
          <a:xfrm>
            <a:off x="4754880" y="39776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cada fase, diario de reflexión del equipo y organización de las carpetas de evidencias en GitHub.</a:t>
            </a:r>
            <a:endParaRPr lang="en-US" sz="1300" dirty="0"/>
          </a:p>
        </p:txBody>
      </p:sp>
      <p:sp>
        <p:nvSpPr>
          <p:cNvPr id="24" name="Shape 19"/>
          <p:cNvSpPr/>
          <p:nvPr/>
        </p:nvSpPr>
        <p:spPr>
          <a:xfrm>
            <a:off x="822960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0"/>
          <p:cNvSpPr/>
          <p:nvPr/>
        </p:nvSpPr>
        <p:spPr>
          <a:xfrm>
            <a:off x="9528048" y="1874520"/>
            <a:ext cx="914400" cy="91440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56648" y="21031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503920" y="29718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Sebastián Toledo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8503920" y="3429000"/>
            <a:ext cx="2971800" cy="384048"/>
          </a:xfrm>
          <a:prstGeom prst="roundRect">
            <a:avLst>
              <a:gd name="adj" fmla="val 47619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9" name="Text 23"/>
          <p:cNvSpPr txBox="1"/>
          <p:nvPr/>
        </p:nvSpPr>
        <p:spPr>
          <a:xfrm>
            <a:off x="8503920" y="342900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· Interfaz PWA</a:t>
            </a:r>
            <a:endParaRPr lang="en-US" sz="1150" dirty="0"/>
          </a:p>
        </p:txBody>
      </p:sp>
      <p:sp>
        <p:nvSpPr>
          <p:cNvPr id="30" name="Text 24"/>
          <p:cNvSpPr txBox="1"/>
          <p:nvPr/>
        </p:nvSpPr>
        <p:spPr>
          <a:xfrm>
            <a:off x="8549640" y="3977640"/>
            <a:ext cx="2880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3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de las 6 pantallas del flujo principal y conexión con la API entregada por el backend.</a:t>
            </a:r>
            <a:endParaRPr lang="en-US" sz="1300" dirty="0"/>
          </a:p>
        </p:txBody>
      </p:sp>
      <p:pic>
        <p:nvPicPr>
          <p:cNvPr id="32" name="Imagen 31">
            <a:extLst>
              <a:ext uri="{FF2B5EF4-FFF2-40B4-BE49-F238E27FC236}">
                <a16:creationId xmlns:a16="http://schemas.microsoft.com/office/drawing/2014/main" id="{967D7525-D77A-D712-4B08-D07F01F9C8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108960" cy="310896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188720" y="4480560"/>
            <a:ext cx="3291840" cy="329184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950976" y="4718304"/>
            <a:ext cx="2816352" cy="28163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Tecnológico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en 3 capas: cliente, API de negocio y base de datos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914400" y="1874520"/>
            <a:ext cx="603504" cy="60350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020824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14400" y="26060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2926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HTML · CSS · JavaScript</a:t>
            </a:r>
            <a:endParaRPr lang="en-US" sz="1700" dirty="0"/>
          </a:p>
          <a:p>
            <a:pPr marL="0" indent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Progressive Web App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36118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desde cualquier navegador y se instala en el celular como una app, sin la complejidad de una app nativa.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069080" y="2971800"/>
            <a:ext cx="384048" cy="365760"/>
          </a:xfrm>
          <a:prstGeom prst="rightArrow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3"/>
          <p:cNvSpPr/>
          <p:nvPr/>
        </p:nvSpPr>
        <p:spPr>
          <a:xfrm>
            <a:off x="452628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Shape 14"/>
          <p:cNvSpPr/>
          <p:nvPr/>
        </p:nvSpPr>
        <p:spPr>
          <a:xfrm>
            <a:off x="4800600" y="1874520"/>
            <a:ext cx="603504" cy="60350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6904" y="2020824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4800600" y="26060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800600" y="2926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4800600" y="36118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lenguaje que el frontend: todo el equipo puede trabajar en cualquier parte del sistema sin aprender otro lenguaje.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7955280" y="2971800"/>
            <a:ext cx="384048" cy="365760"/>
          </a:xfrm>
          <a:prstGeom prst="rightArrow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Shape 19"/>
          <p:cNvSpPr/>
          <p:nvPr/>
        </p:nvSpPr>
        <p:spPr>
          <a:xfrm>
            <a:off x="8412480" y="1600200"/>
            <a:ext cx="3291840" cy="3200400"/>
          </a:xfrm>
          <a:prstGeom prst="roundRect">
            <a:avLst>
              <a:gd name="adj" fmla="val 3429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Shape 20"/>
          <p:cNvSpPr/>
          <p:nvPr/>
        </p:nvSpPr>
        <p:spPr>
          <a:xfrm>
            <a:off x="8686800" y="1874520"/>
            <a:ext cx="603504" cy="603504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33104" y="2020824"/>
            <a:ext cx="310896" cy="310896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686800" y="2606040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8686800" y="2926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7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MySQL</a:t>
            </a:r>
            <a:endParaRPr lang="en-US" sz="1700" dirty="0"/>
          </a:p>
        </p:txBody>
      </p:sp>
      <p:sp>
        <p:nvSpPr>
          <p:cNvPr id="29" name="Text 23"/>
          <p:cNvSpPr txBox="1"/>
          <p:nvPr/>
        </p:nvSpPr>
        <p:spPr>
          <a:xfrm>
            <a:off x="8686800" y="361188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Relacional, robusta y muy documentada: ideal para modelar usuarios, perfiles, canchas, matches y reservas.</a:t>
            </a:r>
            <a:endParaRPr lang="en-US" sz="1250" dirty="0"/>
          </a:p>
        </p:txBody>
      </p:sp>
      <p:sp>
        <p:nvSpPr>
          <p:cNvPr id="30" name="Shape 24"/>
          <p:cNvSpPr/>
          <p:nvPr/>
        </p:nvSpPr>
        <p:spPr>
          <a:xfrm>
            <a:off x="640080" y="5074920"/>
            <a:ext cx="10908792" cy="777240"/>
          </a:xfrm>
          <a:prstGeom prst="roundRect">
            <a:avLst>
              <a:gd name="adj" fmla="val 14118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1" name="Text 25"/>
          <p:cNvSpPr txBox="1"/>
          <p:nvPr/>
        </p:nvSpPr>
        <p:spPr>
          <a:xfrm>
            <a:off x="960120" y="507492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se comunica por HTTP con la API, que concentra la lógica de negocio en módulos (autenticación, matching, canchas y reservas) sobre una única base de datos relacional.</a:t>
            </a:r>
            <a:endParaRPr lang="en-US" sz="1350" dirty="0"/>
          </a:p>
        </p:txBody>
      </p:sp>
      <p:pic>
        <p:nvPicPr>
          <p:cNvPr id="33" name="Imagen 32">
            <a:extLst>
              <a:ext uri="{FF2B5EF4-FFF2-40B4-BE49-F238E27FC236}">
                <a16:creationId xmlns:a16="http://schemas.microsoft.com/office/drawing/2014/main" id="{C42D7C74-D530-D44F-E37E-F73D9AEF48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1280160"/>
            <a:ext cx="3108960" cy="310896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-1188720" y="4480560"/>
            <a:ext cx="3291840" cy="329184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950976" y="4718304"/>
            <a:ext cx="2816352" cy="2816352"/>
          </a:xfrm>
          <a:prstGeom prst="ellipse">
            <a:avLst/>
          </a:prstGeom>
          <a:solidFill>
            <a:srgbClr val="F5FAEE"/>
          </a:solidFill>
          <a:ln w="12700">
            <a:solidFill>
              <a:srgbClr val="F5FA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Competencias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del perfil de egreso que el proyecto evidencia de forma directa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Shape 7"/>
          <p:cNvSpPr/>
          <p:nvPr/>
        </p:nvSpPr>
        <p:spPr>
          <a:xfrm>
            <a:off x="640080" y="1554480"/>
            <a:ext cx="528523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960120" y="1874520"/>
            <a:ext cx="603504" cy="60350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" y="2020824"/>
            <a:ext cx="310896" cy="31089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737360" y="184708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 Software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1737360" y="248716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full-stack: interfaz de usuario y lógica de servidor, cubriendo todo el ciclo de desarrollo.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263640" y="1554480"/>
            <a:ext cx="528523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6583680" y="1874520"/>
            <a:ext cx="603504" cy="60350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9984" y="2020824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360920" y="184708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Información y Bases de Datos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7360920" y="248716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 modelo relacional (diagrama ER) e implementación en MySQL con datos interconectados.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40080" y="3703320"/>
            <a:ext cx="528523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Shape 16"/>
          <p:cNvSpPr/>
          <p:nvPr/>
        </p:nvSpPr>
        <p:spPr>
          <a:xfrm>
            <a:off x="960120" y="4023360"/>
            <a:ext cx="603504" cy="60350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4169664"/>
            <a:ext cx="310896" cy="310896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737360" y="39959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y Gestión de Requisitos TI</a:t>
            </a:r>
            <a:endParaRPr lang="en-US" sz="1600" dirty="0"/>
          </a:p>
        </p:txBody>
      </p:sp>
      <p:sp>
        <p:nvSpPr>
          <p:cNvPr id="24" name="Text 18"/>
          <p:cNvSpPr txBox="1"/>
          <p:nvPr/>
        </p:nvSpPr>
        <p:spPr>
          <a:xfrm>
            <a:off x="1737360" y="4636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Traducir una problemática real en requerimientos claros y acotarlos a un MVP bien definido.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263640" y="3703320"/>
            <a:ext cx="5285232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6" name="Shape 20"/>
          <p:cNvSpPr/>
          <p:nvPr/>
        </p:nvSpPr>
        <p:spPr>
          <a:xfrm>
            <a:off x="6583680" y="4023360"/>
            <a:ext cx="603504" cy="60350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9984" y="4169664"/>
            <a:ext cx="310896" cy="31089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360920" y="39959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y Gestión de Proyectos TI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360920" y="463600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en Scrum a 18 semanas, evaluación de factibilidad y mitigación de riesgos.</a:t>
            </a:r>
            <a:endParaRPr lang="en-US" sz="130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1B332DAB-C0C9-3735-6352-AB9769FC0A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4389120"/>
            <a:ext cx="4206240" cy="420624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9765792" y="4645152"/>
            <a:ext cx="3694176" cy="36941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-822960" y="5669280"/>
            <a:ext cx="2377440" cy="237744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Obstaculizadores identificados y su estrategia de mitigación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" name="Text 7"/>
          <p:cNvSpPr txBox="1"/>
          <p:nvPr/>
        </p:nvSpPr>
        <p:spPr>
          <a:xfrm>
            <a:off x="96012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1719072"/>
            <a:ext cx="5257800" cy="1188720"/>
          </a:xfrm>
          <a:prstGeom prst="roundRect">
            <a:avLst>
              <a:gd name="adj" fmla="val 9231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2157984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444752" y="1719072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s-MX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Dificultades en la integración entre </a:t>
            </a:r>
            <a:r>
              <a:rPr lang="es-MX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r>
              <a:rPr lang="es-MX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s-MX" sz="14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r>
              <a:rPr lang="es-MX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base de datos.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989320" y="2176272"/>
            <a:ext cx="292608" cy="274320"/>
          </a:xfrm>
          <a:prstGeom prst="rightArrow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2"/>
          <p:cNvSpPr/>
          <p:nvPr/>
        </p:nvSpPr>
        <p:spPr>
          <a:xfrm>
            <a:off x="6382512" y="1719072"/>
            <a:ext cx="5166360" cy="1188720"/>
          </a:xfrm>
          <a:prstGeom prst="roundRect">
            <a:avLst>
              <a:gd name="adj" fmla="val 9231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Text 13"/>
          <p:cNvSpPr txBox="1"/>
          <p:nvPr/>
        </p:nvSpPr>
        <p:spPr>
          <a:xfrm>
            <a:off x="6675120" y="171907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s-MX" sz="135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desde temprano las rutas de la API, formatos de respuesta y realizar integraciones parciales durante cada sprint.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640080" y="3090672"/>
            <a:ext cx="5257800" cy="1188720"/>
          </a:xfrm>
          <a:prstGeom prst="roundRect">
            <a:avLst>
              <a:gd name="adj" fmla="val 9231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3529584"/>
            <a:ext cx="310896" cy="31089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444752" y="3090672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acceso a datos reales de canchas ni acuerdos con clubes.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989320" y="3547872"/>
            <a:ext cx="292608" cy="274320"/>
          </a:xfrm>
          <a:prstGeom prst="rightArrow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Shape 17"/>
          <p:cNvSpPr/>
          <p:nvPr/>
        </p:nvSpPr>
        <p:spPr>
          <a:xfrm>
            <a:off x="6382512" y="3090672"/>
            <a:ext cx="5166360" cy="1188720"/>
          </a:xfrm>
          <a:prstGeom prst="roundRect">
            <a:avLst>
              <a:gd name="adj" fmla="val 9231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3" name="Text 18"/>
          <p:cNvSpPr txBox="1"/>
          <p:nvPr/>
        </p:nvSpPr>
        <p:spPr>
          <a:xfrm>
            <a:off x="6675120" y="309067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Precarga manual de una base de datos propia con información pública, sin depender de integraciones externas.</a:t>
            </a:r>
            <a:endParaRPr lang="en-US" sz="1350" dirty="0"/>
          </a:p>
        </p:txBody>
      </p:sp>
      <p:sp>
        <p:nvSpPr>
          <p:cNvPr id="24" name="Shape 19"/>
          <p:cNvSpPr/>
          <p:nvPr/>
        </p:nvSpPr>
        <p:spPr>
          <a:xfrm>
            <a:off x="640080" y="4462272"/>
            <a:ext cx="5257800" cy="1188720"/>
          </a:xfrm>
          <a:prstGeom prst="roundRect">
            <a:avLst>
              <a:gd name="adj" fmla="val 9231"/>
            </a:avLst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901184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444752" y="4462272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s-MX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Poca adopción inicial o falta de usuarios para realizar pruebas reales.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989320" y="4919472"/>
            <a:ext cx="292608" cy="274320"/>
          </a:xfrm>
          <a:prstGeom prst="rightArrow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8" name="Shape 22"/>
          <p:cNvSpPr/>
          <p:nvPr/>
        </p:nvSpPr>
        <p:spPr>
          <a:xfrm>
            <a:off x="6382512" y="4462272"/>
            <a:ext cx="5166360" cy="1188720"/>
          </a:xfrm>
          <a:prstGeom prst="roundRect">
            <a:avLst>
              <a:gd name="adj" fmla="val 9231"/>
            </a:avLst>
          </a:prstGeom>
          <a:solidFill>
            <a:srgbClr val="F1F7EC"/>
          </a:solidFill>
          <a:ln w="12700">
            <a:solidFill>
              <a:srgbClr val="F1F7EC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9" name="Text 23"/>
          <p:cNvSpPr txBox="1"/>
          <p:nvPr/>
        </p:nvSpPr>
        <p:spPr>
          <a:xfrm>
            <a:off x="6675120" y="4462272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s-MX" sz="1350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con un grupo reducido de conocidos o jugadores de tenis y utilizar datos de prueba para validar el sistema.</a:t>
            </a:r>
            <a:endParaRPr lang="en-US" sz="1350" dirty="0"/>
          </a:p>
        </p:txBody>
      </p:sp>
      <p:sp>
        <p:nvSpPr>
          <p:cNvPr id="300" name="Shape 300"/>
          <p:cNvSpPr/>
          <p:nvPr/>
        </p:nvSpPr>
        <p:spPr>
          <a:xfrm>
            <a:off x="640080" y="5780000"/>
            <a:ext cx="10911840" cy="720000"/>
          </a:xfrm>
          <a:prstGeom prst="roundRect">
            <a:avLst>
              <a:gd name="adj" fmla="val 12000"/>
            </a:avLst>
          </a:prstGeom>
          <a:solidFill>
            <a:srgbClr val="F1F8E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01" name="Text 301"/>
          <p:cNvSpPr txBox="1"/>
          <p:nvPr/>
        </p:nvSpPr>
        <p:spPr>
          <a:xfrm>
            <a:off x="940080" y="5870000"/>
            <a:ext cx="500592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B5E3A"/>
                </a:solidFill>
                <a:latin typeface="Calibri" pitchFamily="34" charset="0"/>
              </a:rPr>
              <a:t>RECURSOS: </a:t>
            </a:r>
            <a:r>
              <a:rPr lang="en-US" sz="1050" dirty="0">
                <a:solidFill>
                  <a:srgbClr val="0E3B23"/>
                </a:solidFill>
                <a:latin typeface="Calibri" pitchFamily="34" charset="0"/>
              </a:rPr>
              <a:t>herramientas gratuitas (Node.js, MySQL, GitHub) y tiempo semanal del equipo.</a:t>
            </a:r>
            <a:endParaRPr lang="en-US" sz="1050" dirty="0"/>
          </a:p>
        </p:txBody>
      </p:sp>
      <p:sp>
        <p:nvSpPr>
          <p:cNvPr id="302" name="Text 302"/>
          <p:cNvSpPr txBox="1"/>
          <p:nvPr/>
        </p:nvSpPr>
        <p:spPr>
          <a:xfrm>
            <a:off x="6246000" y="5870000"/>
            <a:ext cx="500592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050" b="1" dirty="0">
                <a:solidFill>
                  <a:srgbClr val="1B5E3A"/>
                </a:solidFill>
                <a:latin typeface="Calibri" pitchFamily="34" charset="0"/>
              </a:rPr>
              <a:t>FACILITADORES: </a:t>
            </a:r>
            <a:r>
              <a:rPr lang="en-US" sz="1050" dirty="0" err="1">
                <a:solidFill>
                  <a:srgbClr val="0E3B23"/>
                </a:solidFill>
                <a:latin typeface="Calibri" pitchFamily="34" charset="0"/>
              </a:rPr>
              <a:t>buena</a:t>
            </a:r>
            <a:r>
              <a:rPr lang="en-US" sz="1050" dirty="0">
                <a:solidFill>
                  <a:srgbClr val="0E3B23"/>
                </a:solidFill>
                <a:latin typeface="Calibri" pitchFamily="34" charset="0"/>
              </a:rPr>
              <a:t> comunicación y roles bien definidos.</a:t>
            </a:r>
            <a:endParaRPr lang="en-US" sz="1050" dirty="0"/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B615224D-89F5-497D-234E-BF4910E7B0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3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206240"/>
            <a:ext cx="4023360" cy="402336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743200" cy="27432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826496" y="4974336"/>
            <a:ext cx="2304288" cy="2304288"/>
          </a:xfrm>
          <a:prstGeom prst="ellipse">
            <a:avLst/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1338560" y="1737360"/>
            <a:ext cx="822960" cy="82296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8404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15568" y="274320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8595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DD5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MeetTennis maneja datos sensibles: ubicación geográfica y contacto de los usuarios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640080" y="1600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932688" y="187452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201168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932688" y="25603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Contraseñas con hash seguro (bcrypt), nunca en texto plano, y acceso protegido con tokens de sesión (JWT).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434840" y="1600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7" name="Shape 13"/>
          <p:cNvSpPr/>
          <p:nvPr/>
        </p:nvSpPr>
        <p:spPr>
          <a:xfrm>
            <a:off x="4727448" y="187452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4608" y="201168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39496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4727448" y="25603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consultas se realizan de forma parametrizada, evitando vulnerabilidades de inyección SQL.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8229600" y="1600200"/>
            <a:ext cx="3520440" cy="1965960"/>
          </a:xfrm>
          <a:prstGeom prst="roundRect">
            <a:avLst>
              <a:gd name="adj" fmla="val 5581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hape 17"/>
          <p:cNvSpPr/>
          <p:nvPr/>
        </p:nvSpPr>
        <p:spPr>
          <a:xfrm>
            <a:off x="8522208" y="1874520"/>
            <a:ext cx="548640" cy="54864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368" y="201168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189720" y="19202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Privacidad de ubicación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8522208" y="25603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se muestra la ubicación exacta: solo la distancia aproximada hasta que ambos confirman el match.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640080" y="3794760"/>
            <a:ext cx="5285232" cy="1783080"/>
          </a:xfrm>
          <a:prstGeom prst="roundRect">
            <a:avLst>
              <a:gd name="adj" fmla="val 6154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7" name="Shape 21"/>
          <p:cNvSpPr/>
          <p:nvPr/>
        </p:nvSpPr>
        <p:spPr>
          <a:xfrm>
            <a:off x="932688" y="4069080"/>
            <a:ext cx="548640" cy="548640"/>
          </a:xfrm>
          <a:prstGeom prst="ellipse">
            <a:avLst/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9848" y="4206240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60020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Cifrado de la comunicación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932688" y="475488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comunicación entre la PWA y el servidor viaja por HTTPS, protegiendo los datos en tránsito.</a:t>
            </a:r>
            <a:endParaRPr lang="en-US" sz="1250" dirty="0"/>
          </a:p>
        </p:txBody>
      </p:sp>
      <p:sp>
        <p:nvSpPr>
          <p:cNvPr id="31" name="Shape 24"/>
          <p:cNvSpPr/>
          <p:nvPr/>
        </p:nvSpPr>
        <p:spPr>
          <a:xfrm>
            <a:off x="6263640" y="3794760"/>
            <a:ext cx="5285232" cy="1783080"/>
          </a:xfrm>
          <a:prstGeom prst="roundRect">
            <a:avLst>
              <a:gd name="adj" fmla="val 6154"/>
            </a:avLst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  <a:effectLst>
            <a:outerShdw blurRad="127000" dist="25400" dir="5400000" algn="bl" rotWithShape="0">
              <a:srgbClr val="1B5E3A">
                <a:alpha val="1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Shape 25"/>
          <p:cNvSpPr/>
          <p:nvPr/>
        </p:nvSpPr>
        <p:spPr>
          <a:xfrm>
            <a:off x="6556248" y="4069080"/>
            <a:ext cx="548640" cy="548640"/>
          </a:xfrm>
          <a:prstGeom prst="ellipse">
            <a:avLst/>
          </a:prstGeom>
          <a:solidFill>
            <a:srgbClr val="0E3B23"/>
          </a:solidFill>
          <a:ln w="12700">
            <a:solidFill>
              <a:srgbClr val="0E3B23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93408" y="4206240"/>
            <a:ext cx="274320" cy="27432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7223760" y="41148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E3B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normativo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556248" y="475488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1B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de datos ajustado a la Ley N° 19.628 sobre Protección de la Vida Privada, informando qué se recolecta y con qué fin.</a:t>
            </a:r>
            <a:endParaRPr lang="en-US" sz="1250" dirty="0"/>
          </a:p>
        </p:txBody>
      </p:sp>
      <p:pic>
        <p:nvPicPr>
          <p:cNvPr id="37" name="Imagen 36">
            <a:extLst>
              <a:ext uri="{FF2B5EF4-FFF2-40B4-BE49-F238E27FC236}">
                <a16:creationId xmlns:a16="http://schemas.microsoft.com/office/drawing/2014/main" id="{525BC873-0A86-4390-12D4-BFF293F960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4343400"/>
            <a:ext cx="3862674" cy="3886199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0607040" y="4754880"/>
            <a:ext cx="2743200" cy="274320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Shape 2"/>
          <p:cNvSpPr/>
          <p:nvPr/>
        </p:nvSpPr>
        <p:spPr>
          <a:xfrm>
            <a:off x="10826496" y="4974336"/>
            <a:ext cx="2304288" cy="2304288"/>
          </a:xfrm>
          <a:prstGeom prst="ellipse">
            <a:avLst/>
          </a:prstGeom>
          <a:solidFill>
            <a:srgbClr val="F5FAEE"/>
          </a:solidFill>
          <a:ln w="12700">
            <a:solidFill>
              <a:srgbClr val="F5FAE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" name="Shape 3"/>
          <p:cNvSpPr/>
          <p:nvPr/>
        </p:nvSpPr>
        <p:spPr>
          <a:xfrm>
            <a:off x="11338560" y="1737360"/>
            <a:ext cx="822960" cy="822960"/>
          </a:xfrm>
          <a:prstGeom prst="ellipse">
            <a:avLst/>
          </a:prstGeom>
          <a:solidFill>
            <a:srgbClr val="E9F3D9"/>
          </a:solidFill>
          <a:ln w="12700">
            <a:solidFill>
              <a:srgbClr val="E9F3D9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867" y="29260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437207" y="173736"/>
            <a:ext cx="38292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Modelo de Negocio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8720" y="2148840"/>
            <a:ext cx="365760" cy="365760"/>
          </a:xfrm>
          <a:prstGeom prst="rect">
            <a:avLst/>
          </a:prstGeom>
        </p:spPr>
      </p:pic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280" y="2148840"/>
            <a:ext cx="365760" cy="365760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C59D2E22-E778-174E-C1EE-1CB963C03F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09014" y="770004"/>
            <a:ext cx="7885680" cy="5914260"/>
          </a:xfrm>
          <a:prstGeom prst="rect">
            <a:avLst/>
          </a:prstGeom>
        </p:spPr>
      </p:pic>
      <p:pic>
        <p:nvPicPr>
          <p:cNvPr id="29" name="Imagen 28">
            <a:extLst>
              <a:ext uri="{FF2B5EF4-FFF2-40B4-BE49-F238E27FC236}">
                <a16:creationId xmlns:a16="http://schemas.microsoft.com/office/drawing/2014/main" id="{C729FE72-5D71-5D38-68B5-07B7F68CB6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81360" y="5394960"/>
            <a:ext cx="2926080" cy="2926080"/>
          </a:xfrm>
          <a:prstGeom prst="ellipse">
            <a:avLst/>
          </a:prstGeom>
          <a:solidFill>
            <a:srgbClr val="F1F8E4"/>
          </a:solidFill>
          <a:ln w="12700">
            <a:solidFill>
              <a:srgbClr val="F1F8E4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11100816" y="5614416"/>
            <a:ext cx="2487168" cy="2487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92608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15568" y="171028"/>
            <a:ext cx="9601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Mockup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1138223" y="71052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4F5B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pantallas núcleo del flujo MVP: registro, perfil, buscar rival, match, cancha sugerida y reserva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774375" y="38404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B5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1624767" y="457200"/>
            <a:ext cx="182880" cy="182880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1" name="Text 101"/>
          <p:cNvSpPr txBox="1"/>
          <p:nvPr/>
        </p:nvSpPr>
        <p:spPr>
          <a:xfrm>
            <a:off x="640080" y="1087251"/>
            <a:ext cx="34544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</a:rPr>
              <a:t>Registro / Login</a:t>
            </a:r>
            <a:endParaRPr lang="en-US" sz="1150" dirty="0"/>
          </a:p>
        </p:txBody>
      </p:sp>
      <p:sp>
        <p:nvSpPr>
          <p:cNvPr id="102" name="Shape 102"/>
          <p:cNvSpPr/>
          <p:nvPr/>
        </p:nvSpPr>
        <p:spPr>
          <a:xfrm>
            <a:off x="1301315" y="1347896"/>
            <a:ext cx="2141728" cy="255074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03" name="Shape 103"/>
          <p:cNvSpPr/>
          <p:nvPr/>
        </p:nvSpPr>
        <p:spPr>
          <a:xfrm>
            <a:off x="2217280" y="1880000"/>
            <a:ext cx="300000" cy="3000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04" name="Shape 104"/>
          <p:cNvSpPr/>
          <p:nvPr/>
        </p:nvSpPr>
        <p:spPr>
          <a:xfrm>
            <a:off x="1496416" y="2330000"/>
            <a:ext cx="1741728" cy="220000"/>
          </a:xfrm>
          <a:prstGeom prst="roundRect">
            <a:avLst>
              <a:gd name="adj" fmla="val 25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5" name="Shape 105"/>
          <p:cNvSpPr/>
          <p:nvPr/>
        </p:nvSpPr>
        <p:spPr>
          <a:xfrm>
            <a:off x="1496416" y="2670000"/>
            <a:ext cx="1741728" cy="220000"/>
          </a:xfrm>
          <a:prstGeom prst="roundRect">
            <a:avLst>
              <a:gd name="adj" fmla="val 25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6" name="Shape 106"/>
          <p:cNvSpPr/>
          <p:nvPr/>
        </p:nvSpPr>
        <p:spPr>
          <a:xfrm>
            <a:off x="1496416" y="3070000"/>
            <a:ext cx="1741728" cy="240000"/>
          </a:xfrm>
          <a:prstGeom prst="roundRect">
            <a:avLst>
              <a:gd name="adj" fmla="val 25000"/>
            </a:avLst>
          </a:prstGeom>
          <a:solidFill>
            <a:srgbClr val="CFE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7" name="Text 107"/>
          <p:cNvSpPr txBox="1"/>
          <p:nvPr/>
        </p:nvSpPr>
        <p:spPr>
          <a:xfrm>
            <a:off x="4368800" y="1081315"/>
            <a:ext cx="34544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</a:rPr>
              <a:t>Perfil de usuario</a:t>
            </a:r>
            <a:endParaRPr lang="en-US" sz="1150" dirty="0"/>
          </a:p>
        </p:txBody>
      </p:sp>
      <p:sp>
        <p:nvSpPr>
          <p:cNvPr id="108" name="Shape 108"/>
          <p:cNvSpPr/>
          <p:nvPr/>
        </p:nvSpPr>
        <p:spPr>
          <a:xfrm>
            <a:off x="5005880" y="1347896"/>
            <a:ext cx="2096992" cy="255074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 dirty="0"/>
          </a:p>
        </p:txBody>
      </p:sp>
      <p:sp>
        <p:nvSpPr>
          <p:cNvPr id="109" name="Shape 109"/>
          <p:cNvSpPr/>
          <p:nvPr/>
        </p:nvSpPr>
        <p:spPr>
          <a:xfrm>
            <a:off x="5936000" y="1880000"/>
            <a:ext cx="320000" cy="3200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0" name="Shape 110"/>
          <p:cNvSpPr/>
          <p:nvPr/>
        </p:nvSpPr>
        <p:spPr>
          <a:xfrm>
            <a:off x="5560568" y="2320000"/>
            <a:ext cx="1070864" cy="140000"/>
          </a:xfrm>
          <a:prstGeom prst="roundRect">
            <a:avLst>
              <a:gd name="adj" fmla="val 40000"/>
            </a:avLst>
          </a:prstGeom>
          <a:solidFill>
            <a:srgbClr val="BDD5B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1" name="Shape 111"/>
          <p:cNvSpPr/>
          <p:nvPr/>
        </p:nvSpPr>
        <p:spPr>
          <a:xfrm>
            <a:off x="5175057" y="2610000"/>
            <a:ext cx="514014" cy="19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2" name="Shape 112"/>
          <p:cNvSpPr/>
          <p:nvPr/>
        </p:nvSpPr>
        <p:spPr>
          <a:xfrm>
            <a:off x="5838992" y="2610000"/>
            <a:ext cx="514014" cy="19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Shape 113"/>
          <p:cNvSpPr/>
          <p:nvPr/>
        </p:nvSpPr>
        <p:spPr>
          <a:xfrm>
            <a:off x="6502927" y="2610000"/>
            <a:ext cx="514014" cy="19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4" name="Text 114"/>
          <p:cNvSpPr txBox="1"/>
          <p:nvPr/>
        </p:nvSpPr>
        <p:spPr>
          <a:xfrm>
            <a:off x="8068704" y="1067896"/>
            <a:ext cx="34544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</a:rPr>
              <a:t>Buscar rival</a:t>
            </a:r>
            <a:endParaRPr lang="en-US" sz="1150" dirty="0"/>
          </a:p>
        </p:txBody>
      </p:sp>
      <p:sp>
        <p:nvSpPr>
          <p:cNvPr id="115" name="Shape 115"/>
          <p:cNvSpPr/>
          <p:nvPr/>
        </p:nvSpPr>
        <p:spPr>
          <a:xfrm>
            <a:off x="8748957" y="1361246"/>
            <a:ext cx="2141728" cy="248101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6" name="Shape 116"/>
          <p:cNvSpPr/>
          <p:nvPr/>
        </p:nvSpPr>
        <p:spPr>
          <a:xfrm>
            <a:off x="8903856" y="1880000"/>
            <a:ext cx="1841728" cy="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7E8D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7" name="Shape 117"/>
          <p:cNvSpPr/>
          <p:nvPr/>
        </p:nvSpPr>
        <p:spPr>
          <a:xfrm>
            <a:off x="8973856" y="2030000"/>
            <a:ext cx="140000" cy="1400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8" name="Shape 118"/>
          <p:cNvSpPr/>
          <p:nvPr/>
        </p:nvSpPr>
        <p:spPr>
          <a:xfrm>
            <a:off x="9173856" y="2050000"/>
            <a:ext cx="1421728" cy="10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9" name="Shape 119"/>
          <p:cNvSpPr/>
          <p:nvPr/>
        </p:nvSpPr>
        <p:spPr>
          <a:xfrm>
            <a:off x="8903856" y="2430000"/>
            <a:ext cx="1841728" cy="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7E8D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0" name="Shape 120"/>
          <p:cNvSpPr/>
          <p:nvPr/>
        </p:nvSpPr>
        <p:spPr>
          <a:xfrm>
            <a:off x="8973856" y="2580000"/>
            <a:ext cx="140000" cy="1400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1" name="Shape 121"/>
          <p:cNvSpPr/>
          <p:nvPr/>
        </p:nvSpPr>
        <p:spPr>
          <a:xfrm>
            <a:off x="9173856" y="2600000"/>
            <a:ext cx="1421728" cy="10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2" name="Shape 122"/>
          <p:cNvSpPr/>
          <p:nvPr/>
        </p:nvSpPr>
        <p:spPr>
          <a:xfrm>
            <a:off x="8875040" y="3053900"/>
            <a:ext cx="1841728" cy="440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2700">
            <a:solidFill>
              <a:srgbClr val="D7E8D5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3" name="Shape 123"/>
          <p:cNvSpPr/>
          <p:nvPr/>
        </p:nvSpPr>
        <p:spPr>
          <a:xfrm>
            <a:off x="8973856" y="3130000"/>
            <a:ext cx="140000" cy="14000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4" name="Shape 124"/>
          <p:cNvSpPr/>
          <p:nvPr/>
        </p:nvSpPr>
        <p:spPr>
          <a:xfrm>
            <a:off x="9173856" y="3150000"/>
            <a:ext cx="1421728" cy="100000"/>
          </a:xfrm>
          <a:prstGeom prst="roundRect">
            <a:avLst>
              <a:gd name="adj" fmla="val 50000"/>
            </a:avLst>
          </a:prstGeom>
          <a:solidFill>
            <a:srgbClr val="D7E8D5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5" name="Text 125"/>
          <p:cNvSpPr txBox="1"/>
          <p:nvPr/>
        </p:nvSpPr>
        <p:spPr>
          <a:xfrm>
            <a:off x="2517280" y="4003938"/>
            <a:ext cx="34544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</a:rPr>
              <a:t>Confirmación de match</a:t>
            </a:r>
            <a:endParaRPr lang="en-US" sz="1150" dirty="0"/>
          </a:p>
        </p:txBody>
      </p:sp>
      <p:sp>
        <p:nvSpPr>
          <p:cNvPr id="126" name="Shape 126"/>
          <p:cNvSpPr/>
          <p:nvPr/>
        </p:nvSpPr>
        <p:spPr>
          <a:xfrm>
            <a:off x="3135864" y="4273361"/>
            <a:ext cx="2141728" cy="242685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9" name="Text 129"/>
          <p:cNvSpPr txBox="1"/>
          <p:nvPr/>
        </p:nvSpPr>
        <p:spPr>
          <a:xfrm>
            <a:off x="6247542" y="4003938"/>
            <a:ext cx="34544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0E3B23"/>
                </a:solidFill>
                <a:latin typeface="Calibri" pitchFamily="34" charset="0"/>
              </a:rPr>
              <a:t>Cancha sugerida</a:t>
            </a:r>
            <a:endParaRPr lang="en-US" sz="1150" dirty="0"/>
          </a:p>
        </p:txBody>
      </p:sp>
      <p:sp>
        <p:nvSpPr>
          <p:cNvPr id="130" name="Shape 130"/>
          <p:cNvSpPr/>
          <p:nvPr/>
        </p:nvSpPr>
        <p:spPr>
          <a:xfrm>
            <a:off x="6906941" y="4266958"/>
            <a:ext cx="2141728" cy="247955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9CA2C1B5-9892-2B74-8A22-E1C837503B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3014" y="1347896"/>
            <a:ext cx="1777487" cy="2528599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D90BCDDD-5982-51F4-3CCB-D0F55B2819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855" y="1367251"/>
            <a:ext cx="1870519" cy="2475013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3A13F33D-847B-2708-0417-DF2159C09D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62779" y="4266958"/>
            <a:ext cx="1823927" cy="2471604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E2EDA6FC-3D41-712A-5284-E56B35E23FA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96416" y="1347895"/>
            <a:ext cx="1741728" cy="2528599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D5B981B0-9C73-3A4F-78FA-495CFE7CFF0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5864" y="4283938"/>
            <a:ext cx="1741728" cy="2434526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id="{7E87E09D-6F6E-B277-7705-C9A982DFF5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3B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4754880" cy="4754880"/>
          </a:xfrm>
          <a:prstGeom prst="ellipse">
            <a:avLst/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534924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7772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916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700" dirty="0">
                <a:solidFill>
                  <a:srgbClr val="D7E8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MeetTennis busca ser la solución de referencia para los jugadores de tenis de Santiago que hoy dependen de grupos de WhatsApp y redes sociales desordenadas para armar un partido.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40080" y="3017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Shape 4"/>
          <p:cNvSpPr/>
          <p:nvPr/>
        </p:nvSpPr>
        <p:spPr>
          <a:xfrm>
            <a:off x="932688" y="3291840"/>
            <a:ext cx="420624" cy="42062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8" name="Text 5"/>
          <p:cNvSpPr txBox="1"/>
          <p:nvPr/>
        </p:nvSpPr>
        <p:spPr>
          <a:xfrm>
            <a:off x="93268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329184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real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32688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rival y cancha es hoy una fricción concreta para la comunidad.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434840" y="3017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Shape 9"/>
          <p:cNvSpPr/>
          <p:nvPr/>
        </p:nvSpPr>
        <p:spPr>
          <a:xfrm>
            <a:off x="4727448" y="3291840"/>
            <a:ext cx="420624" cy="42062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3" name="Text 10"/>
          <p:cNvSpPr txBox="1"/>
          <p:nvPr/>
        </p:nvSpPr>
        <p:spPr>
          <a:xfrm>
            <a:off x="472744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57800" y="329184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realista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727448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acotado a matchmaking por nivel, ubicación y visualización de canchas.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229600" y="3017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1B5E3A"/>
          </a:solidFill>
          <a:ln w="12700">
            <a:solidFill>
              <a:srgbClr val="1B5E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Shape 14"/>
          <p:cNvSpPr/>
          <p:nvPr/>
        </p:nvSpPr>
        <p:spPr>
          <a:xfrm>
            <a:off x="8522208" y="3291840"/>
            <a:ext cx="420624" cy="420624"/>
          </a:xfrm>
          <a:prstGeom prst="ellipse">
            <a:avLst/>
          </a:prstGeom>
          <a:solidFill>
            <a:srgbClr val="CFEA3A"/>
          </a:solidFill>
          <a:ln w="12700">
            <a:solidFill>
              <a:srgbClr val="CFEA3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8" name="Text 15"/>
          <p:cNvSpPr txBox="1"/>
          <p:nvPr/>
        </p:nvSpPr>
        <p:spPr>
          <a:xfrm>
            <a:off x="8522208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E3B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3291840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FE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egreso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8522208" y="3886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E4E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de forma integral las competencias técnicas y de gestión de la carrera.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53492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i="1" dirty="0">
                <a:solidFill>
                  <a:srgbClr val="CFEA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 — ¿Preguntas?</a:t>
            </a:r>
            <a:endParaRPr lang="en-US" sz="220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ECB5D87-16B6-5F42-934A-BFD6A6F6E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22921" y="-102869"/>
            <a:ext cx="1314902" cy="63322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</TotalTime>
  <Words>1633</Words>
  <Application>Microsoft Office PowerPoint</Application>
  <PresentationFormat>Panorámica</PresentationFormat>
  <Paragraphs>226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MeetTennis — Informe de Proyecto (Fase 1)</dc:title>
  <dc:subject>PptxGenJS Presentation</dc:subject>
  <dc:creator>Fabián Baeza · Felipe Sandoval · Sebastián Toledo</dc:creator>
  <cp:lastModifiedBy>Felipe Sandoval</cp:lastModifiedBy>
  <cp:revision>4</cp:revision>
  <dcterms:created xsi:type="dcterms:W3CDTF">2026-08-30T04:38:58Z</dcterms:created>
  <dcterms:modified xsi:type="dcterms:W3CDTF">2026-09-01T03:58:04Z</dcterms:modified>
</cp:coreProperties>
</file>